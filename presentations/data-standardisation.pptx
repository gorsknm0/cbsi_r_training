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4" r:id="rId6"/>
    <p:sldId id="259" r:id="rId7"/>
    <p:sldId id="261" r:id="rId8"/>
    <p:sldId id="269" r:id="rId9"/>
    <p:sldId id="270" r:id="rId10"/>
    <p:sldId id="260" r:id="rId11"/>
    <p:sldId id="262" r:id="rId12"/>
    <p:sldId id="271" r:id="rId13"/>
    <p:sldId id="265" r:id="rId14"/>
    <p:sldId id="267" r:id="rId15"/>
    <p:sldId id="268"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6B282-73D6-8648-B056-4FF0B65BB3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FB6058B-E320-A3F8-2A20-1D4D048D55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F769C0D-1AF8-BFB5-30FE-59F0BB8D3127}"/>
              </a:ext>
            </a:extLst>
          </p:cNvPr>
          <p:cNvSpPr>
            <a:spLocks noGrp="1"/>
          </p:cNvSpPr>
          <p:nvPr>
            <p:ph type="dt" sz="half" idx="10"/>
          </p:nvPr>
        </p:nvSpPr>
        <p:spPr/>
        <p:txBody>
          <a:bodyPr/>
          <a:lstStyle/>
          <a:p>
            <a:fld id="{F71FFBF1-9F4D-4068-AD6D-DD6D86B0068F}" type="datetimeFigureOut">
              <a:rPr lang="en-GB" smtClean="0"/>
              <a:t>15/01/2026</a:t>
            </a:fld>
            <a:endParaRPr lang="en-GB"/>
          </a:p>
        </p:txBody>
      </p:sp>
      <p:sp>
        <p:nvSpPr>
          <p:cNvPr id="5" name="Footer Placeholder 4">
            <a:extLst>
              <a:ext uri="{FF2B5EF4-FFF2-40B4-BE49-F238E27FC236}">
                <a16:creationId xmlns:a16="http://schemas.microsoft.com/office/drawing/2014/main" id="{9C221BF8-7429-49DE-874C-692199CA8F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698E7DC-AF0B-EEAB-A0E1-39DA9E1A58E3}"/>
              </a:ext>
            </a:extLst>
          </p:cNvPr>
          <p:cNvSpPr>
            <a:spLocks noGrp="1"/>
          </p:cNvSpPr>
          <p:nvPr>
            <p:ph type="sldNum" sz="quarter" idx="12"/>
          </p:nvPr>
        </p:nvSpPr>
        <p:spPr/>
        <p:txBody>
          <a:bodyPr/>
          <a:lstStyle/>
          <a:p>
            <a:fld id="{16A45FC0-6ECA-412D-8204-37CE4E705F15}" type="slidenum">
              <a:rPr lang="en-GB" smtClean="0"/>
              <a:t>‹#›</a:t>
            </a:fld>
            <a:endParaRPr lang="en-GB"/>
          </a:p>
        </p:txBody>
      </p:sp>
    </p:spTree>
    <p:extLst>
      <p:ext uri="{BB962C8B-B14F-4D97-AF65-F5344CB8AC3E}">
        <p14:creationId xmlns:p14="http://schemas.microsoft.com/office/powerpoint/2010/main" val="3042373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18FCF-EDCF-1376-3E93-1BCE0B7FAB8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5EAE3B4-1D73-A4CB-534B-86DD10B9D3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6A10CDD-8258-95C7-499B-EF31615DA16D}"/>
              </a:ext>
            </a:extLst>
          </p:cNvPr>
          <p:cNvSpPr>
            <a:spLocks noGrp="1"/>
          </p:cNvSpPr>
          <p:nvPr>
            <p:ph type="dt" sz="half" idx="10"/>
          </p:nvPr>
        </p:nvSpPr>
        <p:spPr/>
        <p:txBody>
          <a:bodyPr/>
          <a:lstStyle/>
          <a:p>
            <a:fld id="{F71FFBF1-9F4D-4068-AD6D-DD6D86B0068F}" type="datetimeFigureOut">
              <a:rPr lang="en-GB" smtClean="0"/>
              <a:t>15/01/2026</a:t>
            </a:fld>
            <a:endParaRPr lang="en-GB"/>
          </a:p>
        </p:txBody>
      </p:sp>
      <p:sp>
        <p:nvSpPr>
          <p:cNvPr id="5" name="Footer Placeholder 4">
            <a:extLst>
              <a:ext uri="{FF2B5EF4-FFF2-40B4-BE49-F238E27FC236}">
                <a16:creationId xmlns:a16="http://schemas.microsoft.com/office/drawing/2014/main" id="{BF879B60-C115-0881-B8BD-C074BD388A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A3852A4-AE1E-181D-4C74-FBE2F9823B2C}"/>
              </a:ext>
            </a:extLst>
          </p:cNvPr>
          <p:cNvSpPr>
            <a:spLocks noGrp="1"/>
          </p:cNvSpPr>
          <p:nvPr>
            <p:ph type="sldNum" sz="quarter" idx="12"/>
          </p:nvPr>
        </p:nvSpPr>
        <p:spPr/>
        <p:txBody>
          <a:bodyPr/>
          <a:lstStyle/>
          <a:p>
            <a:fld id="{16A45FC0-6ECA-412D-8204-37CE4E705F15}" type="slidenum">
              <a:rPr lang="en-GB" smtClean="0"/>
              <a:t>‹#›</a:t>
            </a:fld>
            <a:endParaRPr lang="en-GB"/>
          </a:p>
        </p:txBody>
      </p:sp>
    </p:spTree>
    <p:extLst>
      <p:ext uri="{BB962C8B-B14F-4D97-AF65-F5344CB8AC3E}">
        <p14:creationId xmlns:p14="http://schemas.microsoft.com/office/powerpoint/2010/main" val="2540695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DAF9D-7671-6259-0E5F-394398D0F1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5CB3FFC-2924-74AE-E884-32FDC2E62B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D2EDD3-771F-5502-01C0-379DA3B4123E}"/>
              </a:ext>
            </a:extLst>
          </p:cNvPr>
          <p:cNvSpPr>
            <a:spLocks noGrp="1"/>
          </p:cNvSpPr>
          <p:nvPr>
            <p:ph type="dt" sz="half" idx="10"/>
          </p:nvPr>
        </p:nvSpPr>
        <p:spPr/>
        <p:txBody>
          <a:bodyPr/>
          <a:lstStyle/>
          <a:p>
            <a:fld id="{F71FFBF1-9F4D-4068-AD6D-DD6D86B0068F}" type="datetimeFigureOut">
              <a:rPr lang="en-GB" smtClean="0"/>
              <a:t>15/01/2026</a:t>
            </a:fld>
            <a:endParaRPr lang="en-GB"/>
          </a:p>
        </p:txBody>
      </p:sp>
      <p:sp>
        <p:nvSpPr>
          <p:cNvPr id="5" name="Footer Placeholder 4">
            <a:extLst>
              <a:ext uri="{FF2B5EF4-FFF2-40B4-BE49-F238E27FC236}">
                <a16:creationId xmlns:a16="http://schemas.microsoft.com/office/drawing/2014/main" id="{3EBF56F7-7CFD-AC9E-3B18-1B0BD215FFC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70527CE-6708-6D52-DC0F-78195572B8F3}"/>
              </a:ext>
            </a:extLst>
          </p:cNvPr>
          <p:cNvSpPr>
            <a:spLocks noGrp="1"/>
          </p:cNvSpPr>
          <p:nvPr>
            <p:ph type="sldNum" sz="quarter" idx="12"/>
          </p:nvPr>
        </p:nvSpPr>
        <p:spPr/>
        <p:txBody>
          <a:bodyPr/>
          <a:lstStyle/>
          <a:p>
            <a:fld id="{16A45FC0-6ECA-412D-8204-37CE4E705F15}" type="slidenum">
              <a:rPr lang="en-GB" smtClean="0"/>
              <a:t>‹#›</a:t>
            </a:fld>
            <a:endParaRPr lang="en-GB"/>
          </a:p>
        </p:txBody>
      </p:sp>
    </p:spTree>
    <p:extLst>
      <p:ext uri="{BB962C8B-B14F-4D97-AF65-F5344CB8AC3E}">
        <p14:creationId xmlns:p14="http://schemas.microsoft.com/office/powerpoint/2010/main" val="3014301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94E13-19B9-38CF-4694-3EBC4C81D3D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B851662-DB2E-860E-D245-C87ACA1CBD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3986E26-F9AC-D379-8CFC-899ADCE684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B15A3CC-4E69-70D5-2615-06F059F90E5D}"/>
              </a:ext>
            </a:extLst>
          </p:cNvPr>
          <p:cNvSpPr>
            <a:spLocks noGrp="1"/>
          </p:cNvSpPr>
          <p:nvPr>
            <p:ph type="dt" sz="half" idx="10"/>
          </p:nvPr>
        </p:nvSpPr>
        <p:spPr/>
        <p:txBody>
          <a:bodyPr/>
          <a:lstStyle/>
          <a:p>
            <a:fld id="{F71FFBF1-9F4D-4068-AD6D-DD6D86B0068F}" type="datetimeFigureOut">
              <a:rPr lang="en-GB" smtClean="0"/>
              <a:t>15/01/2026</a:t>
            </a:fld>
            <a:endParaRPr lang="en-GB"/>
          </a:p>
        </p:txBody>
      </p:sp>
      <p:sp>
        <p:nvSpPr>
          <p:cNvPr id="6" name="Footer Placeholder 5">
            <a:extLst>
              <a:ext uri="{FF2B5EF4-FFF2-40B4-BE49-F238E27FC236}">
                <a16:creationId xmlns:a16="http://schemas.microsoft.com/office/drawing/2014/main" id="{BD235F63-D17D-1229-EF7E-632EC988C0A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09CE721-C184-8370-1593-8F9110D674B3}"/>
              </a:ext>
            </a:extLst>
          </p:cNvPr>
          <p:cNvSpPr>
            <a:spLocks noGrp="1"/>
          </p:cNvSpPr>
          <p:nvPr>
            <p:ph type="sldNum" sz="quarter" idx="12"/>
          </p:nvPr>
        </p:nvSpPr>
        <p:spPr/>
        <p:txBody>
          <a:bodyPr/>
          <a:lstStyle/>
          <a:p>
            <a:fld id="{16A45FC0-6ECA-412D-8204-37CE4E705F15}" type="slidenum">
              <a:rPr lang="en-GB" smtClean="0"/>
              <a:t>‹#›</a:t>
            </a:fld>
            <a:endParaRPr lang="en-GB"/>
          </a:p>
        </p:txBody>
      </p:sp>
    </p:spTree>
    <p:extLst>
      <p:ext uri="{BB962C8B-B14F-4D97-AF65-F5344CB8AC3E}">
        <p14:creationId xmlns:p14="http://schemas.microsoft.com/office/powerpoint/2010/main" val="704327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F52DE-D1FA-0D97-3A72-6B7A144F0E7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FC00419-AC46-2F2A-9E03-36522991DE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8058CF-7E02-D6A7-2CD7-52BEA7D697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B80B88F-46EA-C628-3A05-2A21244984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2CB80C-41BF-D95E-7110-2921B7945F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92B1939-C7E9-C9E6-AD1D-73131830549C}"/>
              </a:ext>
            </a:extLst>
          </p:cNvPr>
          <p:cNvSpPr>
            <a:spLocks noGrp="1"/>
          </p:cNvSpPr>
          <p:nvPr>
            <p:ph type="dt" sz="half" idx="10"/>
          </p:nvPr>
        </p:nvSpPr>
        <p:spPr/>
        <p:txBody>
          <a:bodyPr/>
          <a:lstStyle/>
          <a:p>
            <a:fld id="{F71FFBF1-9F4D-4068-AD6D-DD6D86B0068F}" type="datetimeFigureOut">
              <a:rPr lang="en-GB" smtClean="0"/>
              <a:t>15/01/2026</a:t>
            </a:fld>
            <a:endParaRPr lang="en-GB"/>
          </a:p>
        </p:txBody>
      </p:sp>
      <p:sp>
        <p:nvSpPr>
          <p:cNvPr id="8" name="Footer Placeholder 7">
            <a:extLst>
              <a:ext uri="{FF2B5EF4-FFF2-40B4-BE49-F238E27FC236}">
                <a16:creationId xmlns:a16="http://schemas.microsoft.com/office/drawing/2014/main" id="{6A1AFA6A-2D66-FC51-9F7C-C6473D2E5BE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D52FE09-F811-0CB2-15A8-03F939DE0D9A}"/>
              </a:ext>
            </a:extLst>
          </p:cNvPr>
          <p:cNvSpPr>
            <a:spLocks noGrp="1"/>
          </p:cNvSpPr>
          <p:nvPr>
            <p:ph type="sldNum" sz="quarter" idx="12"/>
          </p:nvPr>
        </p:nvSpPr>
        <p:spPr/>
        <p:txBody>
          <a:bodyPr/>
          <a:lstStyle/>
          <a:p>
            <a:fld id="{16A45FC0-6ECA-412D-8204-37CE4E705F15}" type="slidenum">
              <a:rPr lang="en-GB" smtClean="0"/>
              <a:t>‹#›</a:t>
            </a:fld>
            <a:endParaRPr lang="en-GB"/>
          </a:p>
        </p:txBody>
      </p:sp>
    </p:spTree>
    <p:extLst>
      <p:ext uri="{BB962C8B-B14F-4D97-AF65-F5344CB8AC3E}">
        <p14:creationId xmlns:p14="http://schemas.microsoft.com/office/powerpoint/2010/main" val="3538234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86A38-B4D2-383C-A853-7E82A587686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74F8859-97D6-6E91-7609-BAC8201C6CEC}"/>
              </a:ext>
            </a:extLst>
          </p:cNvPr>
          <p:cNvSpPr>
            <a:spLocks noGrp="1"/>
          </p:cNvSpPr>
          <p:nvPr>
            <p:ph type="dt" sz="half" idx="10"/>
          </p:nvPr>
        </p:nvSpPr>
        <p:spPr/>
        <p:txBody>
          <a:bodyPr/>
          <a:lstStyle/>
          <a:p>
            <a:fld id="{F71FFBF1-9F4D-4068-AD6D-DD6D86B0068F}" type="datetimeFigureOut">
              <a:rPr lang="en-GB" smtClean="0"/>
              <a:t>15/01/2026</a:t>
            </a:fld>
            <a:endParaRPr lang="en-GB"/>
          </a:p>
        </p:txBody>
      </p:sp>
      <p:sp>
        <p:nvSpPr>
          <p:cNvPr id="4" name="Footer Placeholder 3">
            <a:extLst>
              <a:ext uri="{FF2B5EF4-FFF2-40B4-BE49-F238E27FC236}">
                <a16:creationId xmlns:a16="http://schemas.microsoft.com/office/drawing/2014/main" id="{76332B64-C636-B312-37C9-2520FE4BF5E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7AF4E51-8678-4C4E-ACB9-C1CA55177783}"/>
              </a:ext>
            </a:extLst>
          </p:cNvPr>
          <p:cNvSpPr>
            <a:spLocks noGrp="1"/>
          </p:cNvSpPr>
          <p:nvPr>
            <p:ph type="sldNum" sz="quarter" idx="12"/>
          </p:nvPr>
        </p:nvSpPr>
        <p:spPr/>
        <p:txBody>
          <a:bodyPr/>
          <a:lstStyle/>
          <a:p>
            <a:fld id="{16A45FC0-6ECA-412D-8204-37CE4E705F15}" type="slidenum">
              <a:rPr lang="en-GB" smtClean="0"/>
              <a:t>‹#›</a:t>
            </a:fld>
            <a:endParaRPr lang="en-GB"/>
          </a:p>
        </p:txBody>
      </p:sp>
    </p:spTree>
    <p:extLst>
      <p:ext uri="{BB962C8B-B14F-4D97-AF65-F5344CB8AC3E}">
        <p14:creationId xmlns:p14="http://schemas.microsoft.com/office/powerpoint/2010/main" val="968875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2EC296-95C8-27C0-8048-CCB4133DF813}"/>
              </a:ext>
            </a:extLst>
          </p:cNvPr>
          <p:cNvSpPr>
            <a:spLocks noGrp="1"/>
          </p:cNvSpPr>
          <p:nvPr>
            <p:ph type="dt" sz="half" idx="10"/>
          </p:nvPr>
        </p:nvSpPr>
        <p:spPr/>
        <p:txBody>
          <a:bodyPr/>
          <a:lstStyle/>
          <a:p>
            <a:fld id="{F71FFBF1-9F4D-4068-AD6D-DD6D86B0068F}" type="datetimeFigureOut">
              <a:rPr lang="en-GB" smtClean="0"/>
              <a:t>15/01/2026</a:t>
            </a:fld>
            <a:endParaRPr lang="en-GB"/>
          </a:p>
        </p:txBody>
      </p:sp>
      <p:sp>
        <p:nvSpPr>
          <p:cNvPr id="3" name="Footer Placeholder 2">
            <a:extLst>
              <a:ext uri="{FF2B5EF4-FFF2-40B4-BE49-F238E27FC236}">
                <a16:creationId xmlns:a16="http://schemas.microsoft.com/office/drawing/2014/main" id="{9495E2EE-C09D-1B1E-36B9-8D4F1AF1297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8AF02F7-DD17-A562-CEF5-9DB8FF949B12}"/>
              </a:ext>
            </a:extLst>
          </p:cNvPr>
          <p:cNvSpPr>
            <a:spLocks noGrp="1"/>
          </p:cNvSpPr>
          <p:nvPr>
            <p:ph type="sldNum" sz="quarter" idx="12"/>
          </p:nvPr>
        </p:nvSpPr>
        <p:spPr/>
        <p:txBody>
          <a:bodyPr/>
          <a:lstStyle/>
          <a:p>
            <a:fld id="{16A45FC0-6ECA-412D-8204-37CE4E705F15}" type="slidenum">
              <a:rPr lang="en-GB" smtClean="0"/>
              <a:t>‹#›</a:t>
            </a:fld>
            <a:endParaRPr lang="en-GB"/>
          </a:p>
        </p:txBody>
      </p:sp>
    </p:spTree>
    <p:extLst>
      <p:ext uri="{BB962C8B-B14F-4D97-AF65-F5344CB8AC3E}">
        <p14:creationId xmlns:p14="http://schemas.microsoft.com/office/powerpoint/2010/main" val="12866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D34A8-B048-BEA5-0802-455AFFD7CC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C374EA3-EC28-15CE-9AE5-BC9A526018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F5BA2CC-1688-DA7A-700A-D3DA19F86C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5689DE-18F6-EF20-DF86-A780E2D17B53}"/>
              </a:ext>
            </a:extLst>
          </p:cNvPr>
          <p:cNvSpPr>
            <a:spLocks noGrp="1"/>
          </p:cNvSpPr>
          <p:nvPr>
            <p:ph type="dt" sz="half" idx="10"/>
          </p:nvPr>
        </p:nvSpPr>
        <p:spPr/>
        <p:txBody>
          <a:bodyPr/>
          <a:lstStyle/>
          <a:p>
            <a:fld id="{F71FFBF1-9F4D-4068-AD6D-DD6D86B0068F}" type="datetimeFigureOut">
              <a:rPr lang="en-GB" smtClean="0"/>
              <a:t>15/01/2026</a:t>
            </a:fld>
            <a:endParaRPr lang="en-GB"/>
          </a:p>
        </p:txBody>
      </p:sp>
      <p:sp>
        <p:nvSpPr>
          <p:cNvPr id="6" name="Footer Placeholder 5">
            <a:extLst>
              <a:ext uri="{FF2B5EF4-FFF2-40B4-BE49-F238E27FC236}">
                <a16:creationId xmlns:a16="http://schemas.microsoft.com/office/drawing/2014/main" id="{B6AAFABB-2C83-DB38-9FED-592D2697A95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A1A388B-47A6-1AF7-AEC7-AC941F0606D4}"/>
              </a:ext>
            </a:extLst>
          </p:cNvPr>
          <p:cNvSpPr>
            <a:spLocks noGrp="1"/>
          </p:cNvSpPr>
          <p:nvPr>
            <p:ph type="sldNum" sz="quarter" idx="12"/>
          </p:nvPr>
        </p:nvSpPr>
        <p:spPr/>
        <p:txBody>
          <a:bodyPr/>
          <a:lstStyle/>
          <a:p>
            <a:fld id="{16A45FC0-6ECA-412D-8204-37CE4E705F15}" type="slidenum">
              <a:rPr lang="en-GB" smtClean="0"/>
              <a:t>‹#›</a:t>
            </a:fld>
            <a:endParaRPr lang="en-GB"/>
          </a:p>
        </p:txBody>
      </p:sp>
    </p:spTree>
    <p:extLst>
      <p:ext uri="{BB962C8B-B14F-4D97-AF65-F5344CB8AC3E}">
        <p14:creationId xmlns:p14="http://schemas.microsoft.com/office/powerpoint/2010/main" val="2972252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36A47-E7C2-2A37-90E8-380A9F6158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0BDDF98-0E5D-B063-E606-B4F302BBA0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02ED8C0-43F7-BCC2-E103-77E84B3F1E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E6117-0F34-EC81-8004-7201DE559D52}"/>
              </a:ext>
            </a:extLst>
          </p:cNvPr>
          <p:cNvSpPr>
            <a:spLocks noGrp="1"/>
          </p:cNvSpPr>
          <p:nvPr>
            <p:ph type="dt" sz="half" idx="10"/>
          </p:nvPr>
        </p:nvSpPr>
        <p:spPr/>
        <p:txBody>
          <a:bodyPr/>
          <a:lstStyle/>
          <a:p>
            <a:fld id="{F71FFBF1-9F4D-4068-AD6D-DD6D86B0068F}" type="datetimeFigureOut">
              <a:rPr lang="en-GB" smtClean="0"/>
              <a:t>15/01/2026</a:t>
            </a:fld>
            <a:endParaRPr lang="en-GB"/>
          </a:p>
        </p:txBody>
      </p:sp>
      <p:sp>
        <p:nvSpPr>
          <p:cNvPr id="6" name="Footer Placeholder 5">
            <a:extLst>
              <a:ext uri="{FF2B5EF4-FFF2-40B4-BE49-F238E27FC236}">
                <a16:creationId xmlns:a16="http://schemas.microsoft.com/office/drawing/2014/main" id="{C50EB588-5FE9-15AF-859F-1F73902EDA3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FACFC06-D7BB-25BE-D323-337F93810AC0}"/>
              </a:ext>
            </a:extLst>
          </p:cNvPr>
          <p:cNvSpPr>
            <a:spLocks noGrp="1"/>
          </p:cNvSpPr>
          <p:nvPr>
            <p:ph type="sldNum" sz="quarter" idx="12"/>
          </p:nvPr>
        </p:nvSpPr>
        <p:spPr/>
        <p:txBody>
          <a:bodyPr/>
          <a:lstStyle/>
          <a:p>
            <a:fld id="{16A45FC0-6ECA-412D-8204-37CE4E705F15}" type="slidenum">
              <a:rPr lang="en-GB" smtClean="0"/>
              <a:t>‹#›</a:t>
            </a:fld>
            <a:endParaRPr lang="en-GB"/>
          </a:p>
        </p:txBody>
      </p:sp>
    </p:spTree>
    <p:extLst>
      <p:ext uri="{BB962C8B-B14F-4D97-AF65-F5344CB8AC3E}">
        <p14:creationId xmlns:p14="http://schemas.microsoft.com/office/powerpoint/2010/main" val="2264357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85608-B467-8AF4-95C5-6D54DFB4282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F240E89-8A36-B119-2791-0C7BD2C8DA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359ED76-B7AC-BA5B-3532-90603E6EBBEE}"/>
              </a:ext>
            </a:extLst>
          </p:cNvPr>
          <p:cNvSpPr>
            <a:spLocks noGrp="1"/>
          </p:cNvSpPr>
          <p:nvPr>
            <p:ph type="dt" sz="half" idx="10"/>
          </p:nvPr>
        </p:nvSpPr>
        <p:spPr/>
        <p:txBody>
          <a:bodyPr/>
          <a:lstStyle/>
          <a:p>
            <a:fld id="{F71FFBF1-9F4D-4068-AD6D-DD6D86B0068F}" type="datetimeFigureOut">
              <a:rPr lang="en-GB" smtClean="0"/>
              <a:t>15/01/2026</a:t>
            </a:fld>
            <a:endParaRPr lang="en-GB"/>
          </a:p>
        </p:txBody>
      </p:sp>
      <p:sp>
        <p:nvSpPr>
          <p:cNvPr id="5" name="Footer Placeholder 4">
            <a:extLst>
              <a:ext uri="{FF2B5EF4-FFF2-40B4-BE49-F238E27FC236}">
                <a16:creationId xmlns:a16="http://schemas.microsoft.com/office/drawing/2014/main" id="{831CAF24-40AB-55FD-31AD-E8B7904B7DD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2CB586-5991-DA44-A154-99308AEA5F34}"/>
              </a:ext>
            </a:extLst>
          </p:cNvPr>
          <p:cNvSpPr>
            <a:spLocks noGrp="1"/>
          </p:cNvSpPr>
          <p:nvPr>
            <p:ph type="sldNum" sz="quarter" idx="12"/>
          </p:nvPr>
        </p:nvSpPr>
        <p:spPr/>
        <p:txBody>
          <a:bodyPr/>
          <a:lstStyle/>
          <a:p>
            <a:fld id="{16A45FC0-6ECA-412D-8204-37CE4E705F15}" type="slidenum">
              <a:rPr lang="en-GB" smtClean="0"/>
              <a:t>‹#›</a:t>
            </a:fld>
            <a:endParaRPr lang="en-GB"/>
          </a:p>
        </p:txBody>
      </p:sp>
    </p:spTree>
    <p:extLst>
      <p:ext uri="{BB962C8B-B14F-4D97-AF65-F5344CB8AC3E}">
        <p14:creationId xmlns:p14="http://schemas.microsoft.com/office/powerpoint/2010/main" val="3997600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29CA5B-4BD4-48CF-CD58-2B8FD61E545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5094237-83DC-4CE2-8E61-2DA0910AF7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565411A-9DB7-1974-4432-88DEE134F9A6}"/>
              </a:ext>
            </a:extLst>
          </p:cNvPr>
          <p:cNvSpPr>
            <a:spLocks noGrp="1"/>
          </p:cNvSpPr>
          <p:nvPr>
            <p:ph type="dt" sz="half" idx="10"/>
          </p:nvPr>
        </p:nvSpPr>
        <p:spPr/>
        <p:txBody>
          <a:bodyPr/>
          <a:lstStyle/>
          <a:p>
            <a:fld id="{F71FFBF1-9F4D-4068-AD6D-DD6D86B0068F}" type="datetimeFigureOut">
              <a:rPr lang="en-GB" smtClean="0"/>
              <a:t>15/01/2026</a:t>
            </a:fld>
            <a:endParaRPr lang="en-GB"/>
          </a:p>
        </p:txBody>
      </p:sp>
      <p:sp>
        <p:nvSpPr>
          <p:cNvPr id="5" name="Footer Placeholder 4">
            <a:extLst>
              <a:ext uri="{FF2B5EF4-FFF2-40B4-BE49-F238E27FC236}">
                <a16:creationId xmlns:a16="http://schemas.microsoft.com/office/drawing/2014/main" id="{80292AD8-08A4-CC83-819E-AE4159389E8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6A9D49-CA6F-468F-D816-FC1CFD5CB0BB}"/>
              </a:ext>
            </a:extLst>
          </p:cNvPr>
          <p:cNvSpPr>
            <a:spLocks noGrp="1"/>
          </p:cNvSpPr>
          <p:nvPr>
            <p:ph type="sldNum" sz="quarter" idx="12"/>
          </p:nvPr>
        </p:nvSpPr>
        <p:spPr/>
        <p:txBody>
          <a:bodyPr/>
          <a:lstStyle/>
          <a:p>
            <a:fld id="{16A45FC0-6ECA-412D-8204-37CE4E705F15}" type="slidenum">
              <a:rPr lang="en-GB" smtClean="0"/>
              <a:t>‹#›</a:t>
            </a:fld>
            <a:endParaRPr lang="en-GB"/>
          </a:p>
        </p:txBody>
      </p:sp>
    </p:spTree>
    <p:extLst>
      <p:ext uri="{BB962C8B-B14F-4D97-AF65-F5344CB8AC3E}">
        <p14:creationId xmlns:p14="http://schemas.microsoft.com/office/powerpoint/2010/main" val="1322056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5DD7A0-86AE-413E-29F8-832F2B0810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92393E3-3595-9A65-05FE-A67E7AD9FD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54C5E73-F660-3CA1-4D96-7AB514CB4F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1FFBF1-9F4D-4068-AD6D-DD6D86B0068F}" type="datetimeFigureOut">
              <a:rPr lang="en-GB" smtClean="0"/>
              <a:t>15/01/2026</a:t>
            </a:fld>
            <a:endParaRPr lang="en-GB"/>
          </a:p>
        </p:txBody>
      </p:sp>
      <p:sp>
        <p:nvSpPr>
          <p:cNvPr id="5" name="Footer Placeholder 4">
            <a:extLst>
              <a:ext uri="{FF2B5EF4-FFF2-40B4-BE49-F238E27FC236}">
                <a16:creationId xmlns:a16="http://schemas.microsoft.com/office/drawing/2014/main" id="{61E13516-54A4-7D9A-8F8A-1D3DA85BF1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A96D771-48C3-F20F-BE9B-81A5E61841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A45FC0-6ECA-412D-8204-37CE4E705F15}" type="slidenum">
              <a:rPr lang="en-GB" smtClean="0"/>
              <a:t>‹#›</a:t>
            </a:fld>
            <a:endParaRPr lang="en-GB"/>
          </a:p>
        </p:txBody>
      </p:sp>
    </p:spTree>
    <p:extLst>
      <p:ext uri="{BB962C8B-B14F-4D97-AF65-F5344CB8AC3E}">
        <p14:creationId xmlns:p14="http://schemas.microsoft.com/office/powerpoint/2010/main" val="3637736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000" b="-8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5FEF8-CAE3-EDE0-BBAF-94989194A6AE}"/>
              </a:ext>
            </a:extLst>
          </p:cNvPr>
          <p:cNvSpPr>
            <a:spLocks noGrp="1"/>
          </p:cNvSpPr>
          <p:nvPr>
            <p:ph type="ctrTitle"/>
          </p:nvPr>
        </p:nvSpPr>
        <p:spPr/>
        <p:txBody>
          <a:bodyPr/>
          <a:lstStyle/>
          <a:p>
            <a:r>
              <a:rPr lang="en-GB" b="1" dirty="0">
                <a:solidFill>
                  <a:schemeClr val="bg1"/>
                </a:solidFill>
              </a:rPr>
              <a:t>Normalisation des Données</a:t>
            </a:r>
          </a:p>
        </p:txBody>
      </p:sp>
      <p:sp>
        <p:nvSpPr>
          <p:cNvPr id="3" name="Subtitle 2">
            <a:extLst>
              <a:ext uri="{FF2B5EF4-FFF2-40B4-BE49-F238E27FC236}">
                <a16:creationId xmlns:a16="http://schemas.microsoft.com/office/drawing/2014/main" id="{F173EFBA-2DD2-6A1E-1041-563C54CEFF91}"/>
              </a:ext>
            </a:extLst>
          </p:cNvPr>
          <p:cNvSpPr>
            <a:spLocks noGrp="1"/>
          </p:cNvSpPr>
          <p:nvPr>
            <p:ph type="subTitle" idx="1"/>
          </p:nvPr>
        </p:nvSpPr>
        <p:spPr/>
        <p:txBody>
          <a:bodyPr>
            <a:normAutofit/>
          </a:bodyPr>
          <a:lstStyle/>
          <a:p>
            <a:r>
              <a:rPr lang="en-GB" sz="3200" dirty="0">
                <a:solidFill>
                  <a:schemeClr val="bg1"/>
                </a:solidFill>
              </a:rPr>
              <a:t>Greta DARGIE and Nika GORSKI</a:t>
            </a:r>
          </a:p>
        </p:txBody>
      </p:sp>
      <p:pic>
        <p:nvPicPr>
          <p:cNvPr id="5" name="Graphic 4">
            <a:extLst>
              <a:ext uri="{FF2B5EF4-FFF2-40B4-BE49-F238E27FC236}">
                <a16:creationId xmlns:a16="http://schemas.microsoft.com/office/drawing/2014/main" id="{9D6CBDBA-B9B4-3945-564E-968DB7D392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4005" y="244477"/>
            <a:ext cx="3720434" cy="1056500"/>
          </a:xfrm>
          <a:prstGeom prst="rect">
            <a:avLst/>
          </a:prstGeom>
        </p:spPr>
      </p:pic>
    </p:spTree>
    <p:extLst>
      <p:ext uri="{BB962C8B-B14F-4D97-AF65-F5344CB8AC3E}">
        <p14:creationId xmlns:p14="http://schemas.microsoft.com/office/powerpoint/2010/main" val="2193366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CFEC1-3778-FD39-C416-CEB6CBEB0F89}"/>
              </a:ext>
            </a:extLst>
          </p:cNvPr>
          <p:cNvSpPr>
            <a:spLocks noGrp="1"/>
          </p:cNvSpPr>
          <p:nvPr>
            <p:ph type="title"/>
          </p:nvPr>
        </p:nvSpPr>
        <p:spPr/>
        <p:txBody>
          <a:bodyPr/>
          <a:lstStyle/>
          <a:p>
            <a:r>
              <a:rPr lang="fr-FR" dirty="0"/>
              <a:t>Que signifie la normalisation des données ?</a:t>
            </a:r>
            <a:endParaRPr lang="en-GB" dirty="0"/>
          </a:p>
        </p:txBody>
      </p:sp>
      <p:sp>
        <p:nvSpPr>
          <p:cNvPr id="3" name="Content Placeholder 2">
            <a:extLst>
              <a:ext uri="{FF2B5EF4-FFF2-40B4-BE49-F238E27FC236}">
                <a16:creationId xmlns:a16="http://schemas.microsoft.com/office/drawing/2014/main" id="{80B5BB8D-158C-789E-B880-307FB06981DC}"/>
              </a:ext>
            </a:extLst>
          </p:cNvPr>
          <p:cNvSpPr>
            <a:spLocks noGrp="1"/>
          </p:cNvSpPr>
          <p:nvPr>
            <p:ph idx="1"/>
          </p:nvPr>
        </p:nvSpPr>
        <p:spPr/>
        <p:txBody>
          <a:bodyPr/>
          <a:lstStyle/>
          <a:p>
            <a:r>
              <a:rPr lang="fr-FR" dirty="0"/>
              <a:t>Formatage standardisé</a:t>
            </a:r>
          </a:p>
          <a:p>
            <a:r>
              <a:rPr lang="fr-FR" dirty="0"/>
              <a:t>Unités standardisées</a:t>
            </a:r>
          </a:p>
          <a:p>
            <a:r>
              <a:rPr lang="fr-FR" dirty="0"/>
              <a:t>Niveaux de précision standardisés</a:t>
            </a:r>
          </a:p>
          <a:p>
            <a:r>
              <a:rPr lang="fr-FR" dirty="0"/>
              <a:t>Méthodes et protocoles standardisés</a:t>
            </a:r>
            <a:endParaRPr lang="en-GB" dirty="0"/>
          </a:p>
        </p:txBody>
      </p:sp>
    </p:spTree>
    <p:extLst>
      <p:ext uri="{BB962C8B-B14F-4D97-AF65-F5344CB8AC3E}">
        <p14:creationId xmlns:p14="http://schemas.microsoft.com/office/powerpoint/2010/main" val="1037037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73BF1-1231-5AAB-2356-C108206D1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70E86-B57B-043D-2162-CE619A7CFFDE}"/>
              </a:ext>
            </a:extLst>
          </p:cNvPr>
          <p:cNvSpPr>
            <a:spLocks noGrp="1"/>
          </p:cNvSpPr>
          <p:nvPr>
            <p:ph type="title"/>
          </p:nvPr>
        </p:nvSpPr>
        <p:spPr>
          <a:xfrm>
            <a:off x="838200" y="365125"/>
            <a:ext cx="10855960" cy="1325563"/>
          </a:xfrm>
        </p:spPr>
        <p:txBody>
          <a:bodyPr/>
          <a:lstStyle/>
          <a:p>
            <a:r>
              <a:rPr lang="fr-FR" dirty="0"/>
              <a:t>Pourquoi la normalisation est importante ?</a:t>
            </a:r>
            <a:endParaRPr lang="en-GB" dirty="0"/>
          </a:p>
        </p:txBody>
      </p:sp>
      <p:sp>
        <p:nvSpPr>
          <p:cNvPr id="3" name="Content Placeholder 2">
            <a:extLst>
              <a:ext uri="{FF2B5EF4-FFF2-40B4-BE49-F238E27FC236}">
                <a16:creationId xmlns:a16="http://schemas.microsoft.com/office/drawing/2014/main" id="{AB5DF37F-2AEE-4E76-0550-3775AB659C67}"/>
              </a:ext>
            </a:extLst>
          </p:cNvPr>
          <p:cNvSpPr>
            <a:spLocks noGrp="1"/>
          </p:cNvSpPr>
          <p:nvPr>
            <p:ph idx="1"/>
          </p:nvPr>
        </p:nvSpPr>
        <p:spPr/>
        <p:txBody>
          <a:bodyPr/>
          <a:lstStyle/>
          <a:p>
            <a:r>
              <a:rPr lang="fr-FR" dirty="0"/>
              <a:t>Gain de temps</a:t>
            </a:r>
          </a:p>
          <a:p>
            <a:r>
              <a:rPr lang="fr-FR" dirty="0"/>
              <a:t>Réduction des erreurs</a:t>
            </a:r>
          </a:p>
          <a:p>
            <a:r>
              <a:rPr lang="fr-FR" dirty="0"/>
              <a:t>Analyse simplifiée</a:t>
            </a:r>
          </a:p>
          <a:p>
            <a:r>
              <a:rPr lang="fr-FR" dirty="0"/>
              <a:t>Permet des analyses à grande échelle</a:t>
            </a:r>
          </a:p>
          <a:p>
            <a:r>
              <a:rPr lang="fr-FR" dirty="0"/>
              <a:t>Permet des comparaisons entre jeux de données</a:t>
            </a:r>
          </a:p>
          <a:p>
            <a:r>
              <a:rPr lang="fr-FR" dirty="0"/>
              <a:t>Réduction de l'incertitude</a:t>
            </a:r>
            <a:endParaRPr lang="en-GB" dirty="0"/>
          </a:p>
        </p:txBody>
      </p:sp>
    </p:spTree>
    <p:extLst>
      <p:ext uri="{BB962C8B-B14F-4D97-AF65-F5344CB8AC3E}">
        <p14:creationId xmlns:p14="http://schemas.microsoft.com/office/powerpoint/2010/main" val="1577870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DE1A3-06A2-7B96-E9EE-12B71D40C9EA}"/>
              </a:ext>
            </a:extLst>
          </p:cNvPr>
          <p:cNvSpPr>
            <a:spLocks noGrp="1"/>
          </p:cNvSpPr>
          <p:nvPr>
            <p:ph type="title"/>
          </p:nvPr>
        </p:nvSpPr>
        <p:spPr/>
        <p:txBody>
          <a:bodyPr/>
          <a:lstStyle/>
          <a:p>
            <a:r>
              <a:rPr lang="fr-FR" dirty="0"/>
              <a:t>Exemple </a:t>
            </a:r>
            <a:r>
              <a:rPr lang="en-GB" dirty="0"/>
              <a:t> 1</a:t>
            </a:r>
          </a:p>
        </p:txBody>
      </p:sp>
      <p:sp>
        <p:nvSpPr>
          <p:cNvPr id="3" name="Content Placeholder 2">
            <a:extLst>
              <a:ext uri="{FF2B5EF4-FFF2-40B4-BE49-F238E27FC236}">
                <a16:creationId xmlns:a16="http://schemas.microsoft.com/office/drawing/2014/main" id="{E868A259-B3C0-8ED7-90AB-709EB15F60DD}"/>
              </a:ext>
            </a:extLst>
          </p:cNvPr>
          <p:cNvSpPr>
            <a:spLocks noGrp="1"/>
          </p:cNvSpPr>
          <p:nvPr>
            <p:ph idx="1"/>
          </p:nvPr>
        </p:nvSpPr>
        <p:spPr/>
        <p:txBody>
          <a:bodyPr/>
          <a:lstStyle/>
          <a:p>
            <a:pPr marL="0" indent="0">
              <a:buNone/>
            </a:pPr>
            <a:r>
              <a:rPr lang="fr-FR" dirty="0"/>
              <a:t>Vous dirigez un projet nécessitant l'installation de 50 </a:t>
            </a:r>
            <a:r>
              <a:rPr lang="fr-FR" dirty="0" err="1"/>
              <a:t>parcels</a:t>
            </a:r>
            <a:r>
              <a:rPr lang="fr-FR" dirty="0"/>
              <a:t> forestières. Vous avez deux équipes de terrain. L'une a saisi les données relatives au genre et à l'espèce dans des colonnes distinctes, tandis que l'autre les a regroupées dans une seule colonne. Vous devez combiner les données de toutes les </a:t>
            </a:r>
            <a:r>
              <a:rPr lang="fr-FR" dirty="0" err="1"/>
              <a:t>parcels</a:t>
            </a:r>
            <a:r>
              <a:rPr lang="fr-FR" dirty="0"/>
              <a:t> pour effectuer les analyses.</a:t>
            </a:r>
            <a:endParaRPr lang="en-GB" dirty="0"/>
          </a:p>
        </p:txBody>
      </p:sp>
      <p:graphicFrame>
        <p:nvGraphicFramePr>
          <p:cNvPr id="4" name="Table 3">
            <a:extLst>
              <a:ext uri="{FF2B5EF4-FFF2-40B4-BE49-F238E27FC236}">
                <a16:creationId xmlns:a16="http://schemas.microsoft.com/office/drawing/2014/main" id="{39C05134-02D6-34BF-D901-6E4D09CD1841}"/>
              </a:ext>
            </a:extLst>
          </p:cNvPr>
          <p:cNvGraphicFramePr>
            <a:graphicFrameLocks noGrp="1"/>
          </p:cNvGraphicFramePr>
          <p:nvPr>
            <p:extLst>
              <p:ext uri="{D42A27DB-BD31-4B8C-83A1-F6EECF244321}">
                <p14:modId xmlns:p14="http://schemas.microsoft.com/office/powerpoint/2010/main" val="3315405657"/>
              </p:ext>
            </p:extLst>
          </p:nvPr>
        </p:nvGraphicFramePr>
        <p:xfrm>
          <a:off x="370841" y="5141278"/>
          <a:ext cx="5257800" cy="1473200"/>
        </p:xfrm>
        <a:graphic>
          <a:graphicData uri="http://schemas.openxmlformats.org/drawingml/2006/table">
            <a:tbl>
              <a:tblPr>
                <a:tableStyleId>{5940675A-B579-460E-94D1-54222C63F5DA}</a:tableStyleId>
              </a:tblPr>
              <a:tblGrid>
                <a:gridCol w="1189839">
                  <a:extLst>
                    <a:ext uri="{9D8B030D-6E8A-4147-A177-3AD203B41FA5}">
                      <a16:colId xmlns:a16="http://schemas.microsoft.com/office/drawing/2014/main" val="793683588"/>
                    </a:ext>
                  </a:extLst>
                </a:gridCol>
                <a:gridCol w="781504">
                  <a:extLst>
                    <a:ext uri="{9D8B030D-6E8A-4147-A177-3AD203B41FA5}">
                      <a16:colId xmlns:a16="http://schemas.microsoft.com/office/drawing/2014/main" val="2879475400"/>
                    </a:ext>
                  </a:extLst>
                </a:gridCol>
                <a:gridCol w="1061416">
                  <a:extLst>
                    <a:ext uri="{9D8B030D-6E8A-4147-A177-3AD203B41FA5}">
                      <a16:colId xmlns:a16="http://schemas.microsoft.com/office/drawing/2014/main" val="3648381951"/>
                    </a:ext>
                  </a:extLst>
                </a:gridCol>
                <a:gridCol w="1493520">
                  <a:extLst>
                    <a:ext uri="{9D8B030D-6E8A-4147-A177-3AD203B41FA5}">
                      <a16:colId xmlns:a16="http://schemas.microsoft.com/office/drawing/2014/main" val="4026149960"/>
                    </a:ext>
                  </a:extLst>
                </a:gridCol>
                <a:gridCol w="731521">
                  <a:extLst>
                    <a:ext uri="{9D8B030D-6E8A-4147-A177-3AD203B41FA5}">
                      <a16:colId xmlns:a16="http://schemas.microsoft.com/office/drawing/2014/main" val="685959222"/>
                    </a:ext>
                  </a:extLst>
                </a:gridCol>
              </a:tblGrid>
              <a:tr h="184150">
                <a:tc gridSpan="5">
                  <a:txBody>
                    <a:bodyPr/>
                    <a:lstStyle/>
                    <a:p>
                      <a:pPr algn="l" fontAlgn="b"/>
                      <a:r>
                        <a:rPr lang="en-GB" sz="1100" b="1" i="0" u="none" strike="noStrike" dirty="0">
                          <a:solidFill>
                            <a:srgbClr val="000000"/>
                          </a:solidFill>
                          <a:effectLst/>
                          <a:latin typeface="Aptos Narrow" panose="020B0004020202020204" pitchFamily="34" charset="0"/>
                        </a:rPr>
                        <a:t>Team  1</a:t>
                      </a:r>
                    </a:p>
                  </a:txBody>
                  <a:tcPr marL="6350" marR="6350" marT="6350" marB="0" anchor="b"/>
                </a:tc>
                <a:tc hMerge="1">
                  <a:txBody>
                    <a:bodyPr/>
                    <a:lstStyle/>
                    <a:p>
                      <a:pPr algn="l" fontAlgn="b"/>
                      <a:endParaRPr lang="en-GB" sz="1100" b="0" i="0" u="none" strike="noStrike">
                        <a:solidFill>
                          <a:srgbClr val="000000"/>
                        </a:solidFill>
                        <a:effectLst/>
                        <a:latin typeface="Aptos Narrow" panose="020B0004020202020204" pitchFamily="34" charset="0"/>
                      </a:endParaRPr>
                    </a:p>
                  </a:txBody>
                  <a:tcPr marL="6350" marR="6350" marT="6350" marB="0" anchor="b"/>
                </a:tc>
                <a:tc hMerge="1">
                  <a:txBody>
                    <a:bodyPr/>
                    <a:lstStyle/>
                    <a:p>
                      <a:pPr algn="l" fontAlgn="b"/>
                      <a:endParaRPr lang="en-GB" sz="1100" b="0" i="0" u="none" strike="noStrike">
                        <a:solidFill>
                          <a:srgbClr val="000000"/>
                        </a:solidFill>
                        <a:effectLst/>
                        <a:latin typeface="Aptos Narrow" panose="020B0004020202020204" pitchFamily="34" charset="0"/>
                      </a:endParaRPr>
                    </a:p>
                  </a:txBody>
                  <a:tcPr marL="6350" marR="6350" marT="6350" marB="0" anchor="b"/>
                </a:tc>
                <a:tc hMerge="1">
                  <a:txBody>
                    <a:bodyPr/>
                    <a:lstStyle/>
                    <a:p>
                      <a:pPr algn="l" fontAlgn="b"/>
                      <a:endParaRPr lang="en-GB" sz="1100" b="0" i="0" u="none" strike="noStrike">
                        <a:solidFill>
                          <a:srgbClr val="000000"/>
                        </a:solidFill>
                        <a:effectLst/>
                        <a:latin typeface="Aptos Narrow" panose="020B0004020202020204" pitchFamily="34" charset="0"/>
                      </a:endParaRPr>
                    </a:p>
                  </a:txBody>
                  <a:tcPr marL="6350" marR="6350" marT="6350" marB="0" anchor="b"/>
                </a:tc>
                <a:tc hMerge="1">
                  <a:txBody>
                    <a:bodyPr/>
                    <a:lstStyle/>
                    <a:p>
                      <a:pPr algn="l" fontAlgn="b"/>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851804632"/>
                  </a:ext>
                </a:extLst>
              </a:tr>
              <a:tr h="184150">
                <a:tc>
                  <a:txBody>
                    <a:bodyPr/>
                    <a:lstStyle/>
                    <a:p>
                      <a:pPr algn="l" fontAlgn="b"/>
                      <a:r>
                        <a:rPr lang="en-GB" sz="1100" b="1" u="none" strike="noStrike">
                          <a:solidFill>
                            <a:srgbClr val="000000"/>
                          </a:solidFill>
                          <a:effectLst/>
                        </a:rPr>
                        <a:t>Family</a:t>
                      </a:r>
                      <a:endParaRPr lang="en-GB"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1" u="none" strike="noStrike">
                          <a:solidFill>
                            <a:srgbClr val="000000"/>
                          </a:solidFill>
                          <a:effectLst/>
                        </a:rPr>
                        <a:t>Genus</a:t>
                      </a:r>
                      <a:endParaRPr lang="en-GB"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1" u="none" strike="noStrike">
                          <a:solidFill>
                            <a:srgbClr val="000000"/>
                          </a:solidFill>
                          <a:effectLst/>
                        </a:rPr>
                        <a:t>Species</a:t>
                      </a:r>
                      <a:endParaRPr lang="en-GB"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1" u="none" strike="noStrike">
                          <a:solidFill>
                            <a:srgbClr val="000000"/>
                          </a:solidFill>
                          <a:effectLst/>
                        </a:rPr>
                        <a:t>Wood_Density_g_cm3</a:t>
                      </a:r>
                      <a:endParaRPr lang="en-GB"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1" u="none" strike="noStrike" dirty="0" err="1">
                          <a:solidFill>
                            <a:srgbClr val="000000"/>
                          </a:solidFill>
                          <a:effectLst/>
                        </a:rPr>
                        <a:t>DBH_mm</a:t>
                      </a:r>
                      <a:endParaRPr lang="en-GB" sz="1100" b="1"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4092654360"/>
                  </a:ext>
                </a:extLst>
              </a:tr>
              <a:tr h="184150">
                <a:tc>
                  <a:txBody>
                    <a:bodyPr/>
                    <a:lstStyle/>
                    <a:p>
                      <a:pPr algn="l" fontAlgn="b"/>
                      <a:r>
                        <a:rPr lang="en-GB" sz="1100" b="0" u="none" strike="noStrike">
                          <a:solidFill>
                            <a:srgbClr val="000000"/>
                          </a:solidFill>
                          <a:effectLst/>
                        </a:rPr>
                        <a:t>Clusiaceae</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Symphonia</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globulifera</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0.588714</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193</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787391466"/>
                  </a:ext>
                </a:extLst>
              </a:tr>
              <a:tr h="184150">
                <a:tc>
                  <a:txBody>
                    <a:bodyPr/>
                    <a:lstStyle/>
                    <a:p>
                      <a:pPr algn="l" fontAlgn="b"/>
                      <a:r>
                        <a:rPr lang="en-GB" sz="1100" b="0" u="none" strike="noStrike">
                          <a:solidFill>
                            <a:srgbClr val="000000"/>
                          </a:solidFill>
                          <a:effectLst/>
                        </a:rPr>
                        <a:t>Pandanaceae</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Pandanus</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candelabrum</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0.603166</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146</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594772152"/>
                  </a:ext>
                </a:extLst>
              </a:tr>
              <a:tr h="184150">
                <a:tc>
                  <a:txBody>
                    <a:bodyPr/>
                    <a:lstStyle/>
                    <a:p>
                      <a:pPr algn="l" fontAlgn="b"/>
                      <a:r>
                        <a:rPr lang="en-GB" sz="1100" b="0" u="none" strike="noStrike">
                          <a:solidFill>
                            <a:srgbClr val="000000"/>
                          </a:solidFill>
                          <a:effectLst/>
                        </a:rPr>
                        <a:t>Meliaceae</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dirty="0">
                          <a:solidFill>
                            <a:srgbClr val="000000"/>
                          </a:solidFill>
                          <a:effectLst/>
                        </a:rPr>
                        <a:t>Carapa</a:t>
                      </a:r>
                      <a:endParaRPr lang="en-GB" sz="11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procera</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0.6042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105</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105998457"/>
                  </a:ext>
                </a:extLst>
              </a:tr>
              <a:tr h="184150">
                <a:tc>
                  <a:txBody>
                    <a:bodyPr/>
                    <a:lstStyle/>
                    <a:p>
                      <a:pPr algn="l" fontAlgn="b"/>
                      <a:r>
                        <a:rPr lang="en-GB" sz="1100" b="0" u="none" strike="noStrike">
                          <a:solidFill>
                            <a:srgbClr val="000000"/>
                          </a:solidFill>
                          <a:effectLst/>
                        </a:rPr>
                        <a:t>Putranjivaceae</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Drypetes</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occidentalis</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0.71525</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436</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13039684"/>
                  </a:ext>
                </a:extLst>
              </a:tr>
              <a:tr h="184150">
                <a:tc>
                  <a:txBody>
                    <a:bodyPr/>
                    <a:lstStyle/>
                    <a:p>
                      <a:pPr algn="l" fontAlgn="b"/>
                      <a:r>
                        <a:rPr lang="en-GB" sz="1100" b="0" u="none" strike="noStrike">
                          <a:solidFill>
                            <a:srgbClr val="000000"/>
                          </a:solidFill>
                          <a:effectLst/>
                        </a:rPr>
                        <a:t>Phyllanthaceae</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Uapaca</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paludosa</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0.652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181</a:t>
                      </a:r>
                      <a:endParaRPr lang="en-GB"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56264574"/>
                  </a:ext>
                </a:extLst>
              </a:tr>
              <a:tr h="184150">
                <a:tc>
                  <a:txBody>
                    <a:bodyPr/>
                    <a:lstStyle/>
                    <a:p>
                      <a:pPr algn="l" fontAlgn="b"/>
                      <a:r>
                        <a:rPr lang="en-GB" sz="1100" b="0" u="none" strike="noStrike">
                          <a:solidFill>
                            <a:srgbClr val="000000"/>
                          </a:solidFill>
                          <a:effectLst/>
                        </a:rPr>
                        <a:t>Euphorbiaceae</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Grossera</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macrantha</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0.434883</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dirty="0">
                          <a:solidFill>
                            <a:srgbClr val="000000"/>
                          </a:solidFill>
                          <a:effectLst/>
                        </a:rPr>
                        <a:t>198</a:t>
                      </a:r>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324212278"/>
                  </a:ext>
                </a:extLst>
              </a:tr>
            </a:tbl>
          </a:graphicData>
        </a:graphic>
      </p:graphicFrame>
      <p:graphicFrame>
        <p:nvGraphicFramePr>
          <p:cNvPr id="5" name="Table 4">
            <a:extLst>
              <a:ext uri="{FF2B5EF4-FFF2-40B4-BE49-F238E27FC236}">
                <a16:creationId xmlns:a16="http://schemas.microsoft.com/office/drawing/2014/main" id="{4A40AFDA-FB6A-3C5C-355C-4139B7B2FB40}"/>
              </a:ext>
            </a:extLst>
          </p:cNvPr>
          <p:cNvGraphicFramePr>
            <a:graphicFrameLocks noGrp="1"/>
          </p:cNvGraphicFramePr>
          <p:nvPr>
            <p:extLst>
              <p:ext uri="{D42A27DB-BD31-4B8C-83A1-F6EECF244321}">
                <p14:modId xmlns:p14="http://schemas.microsoft.com/office/powerpoint/2010/main" val="664265301"/>
              </p:ext>
            </p:extLst>
          </p:nvPr>
        </p:nvGraphicFramePr>
        <p:xfrm>
          <a:off x="5838336" y="5141278"/>
          <a:ext cx="6023463" cy="1473200"/>
        </p:xfrm>
        <a:graphic>
          <a:graphicData uri="http://schemas.openxmlformats.org/drawingml/2006/table">
            <a:tbl>
              <a:tblPr>
                <a:tableStyleId>{5940675A-B579-460E-94D1-54222C63F5DA}</a:tableStyleId>
              </a:tblPr>
              <a:tblGrid>
                <a:gridCol w="1505866">
                  <a:extLst>
                    <a:ext uri="{9D8B030D-6E8A-4147-A177-3AD203B41FA5}">
                      <a16:colId xmlns:a16="http://schemas.microsoft.com/office/drawing/2014/main" val="1028038705"/>
                    </a:ext>
                  </a:extLst>
                </a:gridCol>
                <a:gridCol w="1785974">
                  <a:extLst>
                    <a:ext uri="{9D8B030D-6E8A-4147-A177-3AD203B41FA5}">
                      <a16:colId xmlns:a16="http://schemas.microsoft.com/office/drawing/2014/main" val="274447243"/>
                    </a:ext>
                  </a:extLst>
                </a:gridCol>
                <a:gridCol w="1412240">
                  <a:extLst>
                    <a:ext uri="{9D8B030D-6E8A-4147-A177-3AD203B41FA5}">
                      <a16:colId xmlns:a16="http://schemas.microsoft.com/office/drawing/2014/main" val="3934595821"/>
                    </a:ext>
                  </a:extLst>
                </a:gridCol>
                <a:gridCol w="1319383">
                  <a:extLst>
                    <a:ext uri="{9D8B030D-6E8A-4147-A177-3AD203B41FA5}">
                      <a16:colId xmlns:a16="http://schemas.microsoft.com/office/drawing/2014/main" val="3394297917"/>
                    </a:ext>
                  </a:extLst>
                </a:gridCol>
              </a:tblGrid>
              <a:tr h="184150">
                <a:tc gridSpan="4">
                  <a:txBody>
                    <a:bodyPr/>
                    <a:lstStyle/>
                    <a:p>
                      <a:pPr algn="l" fontAlgn="b"/>
                      <a:r>
                        <a:rPr lang="en-GB" sz="1100" b="1" i="0" u="none" strike="noStrike" dirty="0">
                          <a:solidFill>
                            <a:srgbClr val="000000"/>
                          </a:solidFill>
                          <a:effectLst/>
                          <a:latin typeface="Aptos Narrow" panose="020B0004020202020204" pitchFamily="34" charset="0"/>
                        </a:rPr>
                        <a:t>Team 2</a:t>
                      </a:r>
                    </a:p>
                  </a:txBody>
                  <a:tcPr marL="6350" marR="6350" marT="6350" marB="0" anchor="b"/>
                </a:tc>
                <a:tc hMerge="1">
                  <a:txBody>
                    <a:bodyPr/>
                    <a:lstStyle/>
                    <a:p>
                      <a:pPr algn="l" fontAlgn="b"/>
                      <a:endParaRPr lang="en-GB" sz="1100" b="0" i="0" u="none" strike="noStrike">
                        <a:solidFill>
                          <a:srgbClr val="000000"/>
                        </a:solidFill>
                        <a:effectLst/>
                        <a:latin typeface="Aptos Narrow" panose="020B0004020202020204" pitchFamily="34" charset="0"/>
                      </a:endParaRPr>
                    </a:p>
                  </a:txBody>
                  <a:tcPr marL="6350" marR="6350" marT="6350" marB="0" anchor="b"/>
                </a:tc>
                <a:tc hMerge="1">
                  <a:txBody>
                    <a:bodyPr/>
                    <a:lstStyle/>
                    <a:p>
                      <a:pPr algn="l" fontAlgn="b"/>
                      <a:endParaRPr lang="en-GB" sz="1100" b="0" i="0" u="none" strike="noStrike">
                        <a:solidFill>
                          <a:srgbClr val="000000"/>
                        </a:solidFill>
                        <a:effectLst/>
                        <a:latin typeface="Aptos Narrow" panose="020B0004020202020204" pitchFamily="34" charset="0"/>
                      </a:endParaRPr>
                    </a:p>
                  </a:txBody>
                  <a:tcPr marL="6350" marR="6350" marT="6350" marB="0" anchor="b"/>
                </a:tc>
                <a:tc hMerge="1">
                  <a:txBody>
                    <a:bodyPr/>
                    <a:lstStyle/>
                    <a:p>
                      <a:pPr algn="l" fontAlgn="b"/>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042044828"/>
                  </a:ext>
                </a:extLst>
              </a:tr>
              <a:tr h="184150">
                <a:tc>
                  <a:txBody>
                    <a:bodyPr/>
                    <a:lstStyle/>
                    <a:p>
                      <a:pPr algn="l" fontAlgn="b"/>
                      <a:r>
                        <a:rPr lang="en-GB" sz="1100" b="1" u="none" strike="noStrike">
                          <a:solidFill>
                            <a:srgbClr val="000000"/>
                          </a:solidFill>
                          <a:effectLst/>
                        </a:rPr>
                        <a:t>Family</a:t>
                      </a:r>
                      <a:endParaRPr lang="en-GB"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1" u="none" strike="noStrike">
                          <a:solidFill>
                            <a:srgbClr val="000000"/>
                          </a:solidFill>
                          <a:effectLst/>
                        </a:rPr>
                        <a:t>Species</a:t>
                      </a:r>
                      <a:endParaRPr lang="en-GB"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1" u="none" strike="noStrike">
                          <a:solidFill>
                            <a:srgbClr val="000000"/>
                          </a:solidFill>
                          <a:effectLst/>
                        </a:rPr>
                        <a:t>Wood_Density_g_cm3</a:t>
                      </a:r>
                      <a:endParaRPr lang="en-GB"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1" u="none" strike="noStrike" dirty="0" err="1">
                          <a:solidFill>
                            <a:srgbClr val="000000"/>
                          </a:solidFill>
                          <a:effectLst/>
                        </a:rPr>
                        <a:t>DBH_mm</a:t>
                      </a:r>
                      <a:endParaRPr lang="en-GB" sz="1100" b="1"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868921285"/>
                  </a:ext>
                </a:extLst>
              </a:tr>
              <a:tr h="184150">
                <a:tc>
                  <a:txBody>
                    <a:bodyPr/>
                    <a:lstStyle/>
                    <a:p>
                      <a:pPr algn="l" fontAlgn="b"/>
                      <a:r>
                        <a:rPr lang="en-GB" sz="1100" b="0" u="none" strike="noStrike">
                          <a:solidFill>
                            <a:srgbClr val="000000"/>
                          </a:solidFill>
                          <a:effectLst/>
                        </a:rPr>
                        <a:t>Putranjivaceae</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Drypetes occidentalis</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0.71525</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dirty="0">
                          <a:solidFill>
                            <a:srgbClr val="000000"/>
                          </a:solidFill>
                          <a:effectLst/>
                        </a:rPr>
                        <a:t>584</a:t>
                      </a:r>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212094775"/>
                  </a:ext>
                </a:extLst>
              </a:tr>
              <a:tr h="184150">
                <a:tc>
                  <a:txBody>
                    <a:bodyPr/>
                    <a:lstStyle/>
                    <a:p>
                      <a:pPr algn="l" fontAlgn="b"/>
                      <a:r>
                        <a:rPr lang="en-GB" sz="1100" b="0" u="none" strike="noStrike">
                          <a:solidFill>
                            <a:srgbClr val="000000"/>
                          </a:solidFill>
                          <a:effectLst/>
                        </a:rPr>
                        <a:t>Euphorbiaceae</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Macaranga spinosa</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0.380167</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dirty="0">
                          <a:solidFill>
                            <a:srgbClr val="000000"/>
                          </a:solidFill>
                          <a:effectLst/>
                        </a:rPr>
                        <a:t>108</a:t>
                      </a:r>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469112402"/>
                  </a:ext>
                </a:extLst>
              </a:tr>
              <a:tr h="184150">
                <a:tc>
                  <a:txBody>
                    <a:bodyPr/>
                    <a:lstStyle/>
                    <a:p>
                      <a:pPr algn="l" fontAlgn="b"/>
                      <a:r>
                        <a:rPr lang="en-GB" sz="1100" b="0" u="none" strike="noStrike">
                          <a:solidFill>
                            <a:srgbClr val="000000"/>
                          </a:solidFill>
                          <a:effectLst/>
                        </a:rPr>
                        <a:t>Annonaceae</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Xylopia rubescens</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0.59682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dirty="0">
                          <a:solidFill>
                            <a:srgbClr val="000000"/>
                          </a:solidFill>
                          <a:effectLst/>
                        </a:rPr>
                        <a:t>264</a:t>
                      </a:r>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364373038"/>
                  </a:ext>
                </a:extLst>
              </a:tr>
              <a:tr h="184150">
                <a:tc>
                  <a:txBody>
                    <a:bodyPr/>
                    <a:lstStyle/>
                    <a:p>
                      <a:pPr algn="l" fontAlgn="b"/>
                      <a:r>
                        <a:rPr lang="en-GB" sz="1100" b="0" u="none" strike="noStrike">
                          <a:solidFill>
                            <a:srgbClr val="000000"/>
                          </a:solidFill>
                          <a:effectLst/>
                        </a:rPr>
                        <a:t>Putranjivaceae</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Drypetes occidentalis</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0.71525</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dirty="0">
                          <a:solidFill>
                            <a:srgbClr val="000000"/>
                          </a:solidFill>
                          <a:effectLst/>
                        </a:rPr>
                        <a:t>128</a:t>
                      </a:r>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298917517"/>
                  </a:ext>
                </a:extLst>
              </a:tr>
              <a:tr h="184150">
                <a:tc>
                  <a:txBody>
                    <a:bodyPr/>
                    <a:lstStyle/>
                    <a:p>
                      <a:pPr algn="l" fontAlgn="b"/>
                      <a:r>
                        <a:rPr lang="en-GB" sz="1100" b="0" u="none" strike="noStrike">
                          <a:solidFill>
                            <a:srgbClr val="000000"/>
                          </a:solidFill>
                          <a:effectLst/>
                        </a:rPr>
                        <a:t>Annonaceae</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Xylopia rubescens</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0.59682</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dirty="0">
                          <a:solidFill>
                            <a:srgbClr val="000000"/>
                          </a:solidFill>
                          <a:effectLst/>
                        </a:rPr>
                        <a:t>733</a:t>
                      </a:r>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179740503"/>
                  </a:ext>
                </a:extLst>
              </a:tr>
              <a:tr h="184150">
                <a:tc>
                  <a:txBody>
                    <a:bodyPr/>
                    <a:lstStyle/>
                    <a:p>
                      <a:pPr algn="l" fontAlgn="b"/>
                      <a:r>
                        <a:rPr lang="en-GB" sz="1100" b="0" u="none" strike="noStrike" dirty="0">
                          <a:solidFill>
                            <a:srgbClr val="000000"/>
                          </a:solidFill>
                          <a:effectLst/>
                        </a:rPr>
                        <a:t>Salicaceae</a:t>
                      </a:r>
                      <a:endParaRPr lang="en-GB" sz="11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l" fontAlgn="b"/>
                      <a:r>
                        <a:rPr lang="en-GB" sz="1100" b="0" u="none" strike="noStrike">
                          <a:solidFill>
                            <a:srgbClr val="000000"/>
                          </a:solidFill>
                          <a:effectLst/>
                        </a:rPr>
                        <a:t>Casearia barteri</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a:solidFill>
                            <a:srgbClr val="000000"/>
                          </a:solidFill>
                          <a:effectLst/>
                        </a:rPr>
                        <a:t>0.508</a:t>
                      </a:r>
                      <a:endParaRPr lang="en-GB"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1100" b="0" u="none" strike="noStrike" dirty="0">
                          <a:solidFill>
                            <a:srgbClr val="000000"/>
                          </a:solidFill>
                          <a:effectLst/>
                        </a:rPr>
                        <a:t>125</a:t>
                      </a:r>
                      <a:endParaRPr lang="en-GB"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52888797"/>
                  </a:ext>
                </a:extLst>
              </a:tr>
            </a:tbl>
          </a:graphicData>
        </a:graphic>
      </p:graphicFrame>
    </p:spTree>
    <p:extLst>
      <p:ext uri="{BB962C8B-B14F-4D97-AF65-F5344CB8AC3E}">
        <p14:creationId xmlns:p14="http://schemas.microsoft.com/office/powerpoint/2010/main" val="4264938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E6EE7-7566-793E-1FA4-010F426DF8BA}"/>
              </a:ext>
            </a:extLst>
          </p:cNvPr>
          <p:cNvSpPr>
            <a:spLocks noGrp="1"/>
          </p:cNvSpPr>
          <p:nvPr>
            <p:ph type="title"/>
          </p:nvPr>
        </p:nvSpPr>
        <p:spPr/>
        <p:txBody>
          <a:bodyPr/>
          <a:lstStyle/>
          <a:p>
            <a:r>
              <a:rPr lang="fr-FR" dirty="0"/>
              <a:t>Exemple </a:t>
            </a:r>
            <a:r>
              <a:rPr lang="en-GB" dirty="0"/>
              <a:t> 2</a:t>
            </a:r>
          </a:p>
        </p:txBody>
      </p:sp>
      <p:sp>
        <p:nvSpPr>
          <p:cNvPr id="3" name="Content Placeholder 2">
            <a:extLst>
              <a:ext uri="{FF2B5EF4-FFF2-40B4-BE49-F238E27FC236}">
                <a16:creationId xmlns:a16="http://schemas.microsoft.com/office/drawing/2014/main" id="{CDAA4FA5-234A-EE1F-EC2B-0B30B4BA6474}"/>
              </a:ext>
            </a:extLst>
          </p:cNvPr>
          <p:cNvSpPr>
            <a:spLocks noGrp="1"/>
          </p:cNvSpPr>
          <p:nvPr>
            <p:ph idx="1"/>
          </p:nvPr>
        </p:nvSpPr>
        <p:spPr/>
        <p:txBody>
          <a:bodyPr>
            <a:normAutofit/>
          </a:bodyPr>
          <a:lstStyle/>
          <a:p>
            <a:pPr marL="0" indent="0">
              <a:buNone/>
            </a:pPr>
            <a:r>
              <a:rPr lang="fr-FR" sz="2400" dirty="0"/>
              <a:t>Vous avez effectué un recensement d'oiseaux dans un parc national. Vous avez un fichier contenant tous les oiseaux observés et leurs espèces. Dans R, vous souhaitez déterminer le nombre d'espèces différentes recensées. Vous chargez ce fichier dans R afin d'automatiser le processus et vous utilisez la fonction `unique()` pour compter le nombre d'espèces dans vos données. Voici les premières lignes de vos données, telles que vous les avez saisies.</a:t>
            </a:r>
            <a:endParaRPr lang="en-GB" sz="2400" dirty="0"/>
          </a:p>
        </p:txBody>
      </p:sp>
      <p:graphicFrame>
        <p:nvGraphicFramePr>
          <p:cNvPr id="4" name="Table 3">
            <a:extLst>
              <a:ext uri="{FF2B5EF4-FFF2-40B4-BE49-F238E27FC236}">
                <a16:creationId xmlns:a16="http://schemas.microsoft.com/office/drawing/2014/main" id="{8C807157-F27D-DD01-D663-6789392C3488}"/>
              </a:ext>
            </a:extLst>
          </p:cNvPr>
          <p:cNvGraphicFramePr>
            <a:graphicFrameLocks noGrp="1"/>
          </p:cNvGraphicFramePr>
          <p:nvPr>
            <p:extLst>
              <p:ext uri="{D42A27DB-BD31-4B8C-83A1-F6EECF244321}">
                <p14:modId xmlns:p14="http://schemas.microsoft.com/office/powerpoint/2010/main" val="1595503913"/>
              </p:ext>
            </p:extLst>
          </p:nvPr>
        </p:nvGraphicFramePr>
        <p:xfrm>
          <a:off x="3145972" y="4325711"/>
          <a:ext cx="5116287" cy="2178050"/>
        </p:xfrm>
        <a:graphic>
          <a:graphicData uri="http://schemas.openxmlformats.org/drawingml/2006/table">
            <a:tbl>
              <a:tblPr>
                <a:tableStyleId>{616DA210-FB5B-4158-B5E0-FEB733F419BA}</a:tableStyleId>
              </a:tblPr>
              <a:tblGrid>
                <a:gridCol w="1272444">
                  <a:extLst>
                    <a:ext uri="{9D8B030D-6E8A-4147-A177-3AD203B41FA5}">
                      <a16:colId xmlns:a16="http://schemas.microsoft.com/office/drawing/2014/main" val="945190248"/>
                    </a:ext>
                  </a:extLst>
                </a:gridCol>
                <a:gridCol w="2359325">
                  <a:extLst>
                    <a:ext uri="{9D8B030D-6E8A-4147-A177-3AD203B41FA5}">
                      <a16:colId xmlns:a16="http://schemas.microsoft.com/office/drawing/2014/main" val="3902192730"/>
                    </a:ext>
                  </a:extLst>
                </a:gridCol>
                <a:gridCol w="1484518">
                  <a:extLst>
                    <a:ext uri="{9D8B030D-6E8A-4147-A177-3AD203B41FA5}">
                      <a16:colId xmlns:a16="http://schemas.microsoft.com/office/drawing/2014/main" val="556816298"/>
                    </a:ext>
                  </a:extLst>
                </a:gridCol>
              </a:tblGrid>
              <a:tr h="184150">
                <a:tc>
                  <a:txBody>
                    <a:bodyPr/>
                    <a:lstStyle/>
                    <a:p>
                      <a:pPr algn="l" fontAlgn="b"/>
                      <a:r>
                        <a:rPr lang="en-GB" sz="2000" b="1" u="none" strike="noStrike" dirty="0">
                          <a:effectLst/>
                        </a:rPr>
                        <a:t>Site</a:t>
                      </a:r>
                      <a:endParaRPr lang="en-GB" sz="2000" b="1" i="0" u="none" strike="noStrike" dirty="0">
                        <a:solidFill>
                          <a:srgbClr val="000000"/>
                        </a:solidFill>
                        <a:effectLst/>
                        <a:latin typeface="Aptos Narrow" panose="020B0004020202020204" pitchFamily="34" charset="0"/>
                      </a:endParaRPr>
                    </a:p>
                  </a:txBody>
                  <a:tcPr marL="6350" marR="6350" marT="6350" marB="0" anchor="b"/>
                </a:tc>
                <a:tc>
                  <a:txBody>
                    <a:bodyPr/>
                    <a:lstStyle/>
                    <a:p>
                      <a:pPr algn="l" fontAlgn="b"/>
                      <a:r>
                        <a:rPr lang="en-GB" sz="2000" b="1" u="none" strike="noStrike" dirty="0">
                          <a:effectLst/>
                        </a:rPr>
                        <a:t>Species</a:t>
                      </a:r>
                      <a:endParaRPr lang="en-GB" sz="2000" b="1" i="0" u="none" strike="noStrike" dirty="0">
                        <a:solidFill>
                          <a:srgbClr val="000000"/>
                        </a:solidFill>
                        <a:effectLst/>
                        <a:latin typeface="Aptos Narrow" panose="020B0004020202020204" pitchFamily="34" charset="0"/>
                      </a:endParaRPr>
                    </a:p>
                  </a:txBody>
                  <a:tcPr marL="6350" marR="6350" marT="6350" marB="0" anchor="b"/>
                </a:tc>
                <a:tc>
                  <a:txBody>
                    <a:bodyPr/>
                    <a:lstStyle/>
                    <a:p>
                      <a:pPr algn="l" fontAlgn="b"/>
                      <a:r>
                        <a:rPr lang="en-GB" sz="2000" b="1" u="none" strike="noStrike" dirty="0">
                          <a:effectLst/>
                        </a:rPr>
                        <a:t>Date</a:t>
                      </a:r>
                      <a:endParaRPr lang="en-GB" sz="2000" b="1"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363702128"/>
                  </a:ext>
                </a:extLst>
              </a:tr>
              <a:tr h="184150">
                <a:tc>
                  <a:txBody>
                    <a:bodyPr/>
                    <a:lstStyle/>
                    <a:p>
                      <a:pPr algn="r" fontAlgn="b"/>
                      <a:r>
                        <a:rPr lang="en-GB" sz="2000" u="none" strike="noStrike">
                          <a:effectLst/>
                        </a:rPr>
                        <a:t>1</a:t>
                      </a:r>
                      <a:endParaRPr lang="en-GB"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ctr"/>
                      <a:r>
                        <a:rPr lang="en-GB" sz="2000" u="none" strike="noStrike">
                          <a:effectLst/>
                        </a:rPr>
                        <a:t>Psittacus erithacus</a:t>
                      </a:r>
                      <a:endParaRPr lang="en-GB" sz="2000" b="0" i="0" u="none" strike="noStrike">
                        <a:solidFill>
                          <a:srgbClr val="000000"/>
                        </a:solidFill>
                        <a:effectLst/>
                        <a:latin typeface="Segoe UI" panose="020B0502040204020203" pitchFamily="34" charset="0"/>
                      </a:endParaRPr>
                    </a:p>
                  </a:txBody>
                  <a:tcPr marL="6350" marR="6350" marT="6350" marB="0" anchor="ctr"/>
                </a:tc>
                <a:tc>
                  <a:txBody>
                    <a:bodyPr/>
                    <a:lstStyle/>
                    <a:p>
                      <a:pPr algn="r" fontAlgn="b"/>
                      <a:r>
                        <a:rPr lang="en-GB" sz="2000" u="none" strike="noStrike">
                          <a:effectLst/>
                        </a:rPr>
                        <a:t>23/08/2025</a:t>
                      </a:r>
                      <a:endParaRPr lang="en-GB" sz="20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459689857"/>
                  </a:ext>
                </a:extLst>
              </a:tr>
              <a:tr h="184150">
                <a:tc>
                  <a:txBody>
                    <a:bodyPr/>
                    <a:lstStyle/>
                    <a:p>
                      <a:pPr algn="r" fontAlgn="b"/>
                      <a:r>
                        <a:rPr lang="en-GB" sz="2000" u="none" strike="noStrike">
                          <a:effectLst/>
                        </a:rPr>
                        <a:t>1</a:t>
                      </a:r>
                      <a:endParaRPr lang="en-GB"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2000" u="none" strike="noStrike">
                          <a:effectLst/>
                        </a:rPr>
                        <a:t>Bycanistes  brevis</a:t>
                      </a:r>
                      <a:endParaRPr lang="en-GB"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2000" u="none" strike="noStrike">
                          <a:effectLst/>
                        </a:rPr>
                        <a:t>23/08/2025</a:t>
                      </a:r>
                      <a:endParaRPr lang="en-GB" sz="20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617646581"/>
                  </a:ext>
                </a:extLst>
              </a:tr>
              <a:tr h="184150">
                <a:tc>
                  <a:txBody>
                    <a:bodyPr/>
                    <a:lstStyle/>
                    <a:p>
                      <a:pPr algn="r" fontAlgn="b"/>
                      <a:r>
                        <a:rPr lang="en-GB" sz="2000" u="none" strike="noStrike">
                          <a:effectLst/>
                        </a:rPr>
                        <a:t>1</a:t>
                      </a:r>
                      <a:endParaRPr lang="en-GB"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2000" u="none" strike="noStrike">
                          <a:effectLst/>
                        </a:rPr>
                        <a:t>Bycanistes brevis</a:t>
                      </a:r>
                      <a:endParaRPr lang="en-GB"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2000" u="none" strike="noStrike">
                          <a:effectLst/>
                        </a:rPr>
                        <a:t>23/08/2025</a:t>
                      </a:r>
                      <a:endParaRPr lang="en-GB" sz="20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4137310874"/>
                  </a:ext>
                </a:extLst>
              </a:tr>
              <a:tr h="184150">
                <a:tc>
                  <a:txBody>
                    <a:bodyPr/>
                    <a:lstStyle/>
                    <a:p>
                      <a:pPr algn="r" fontAlgn="b"/>
                      <a:r>
                        <a:rPr lang="en-GB" sz="2000" u="none" strike="noStrike">
                          <a:effectLst/>
                        </a:rPr>
                        <a:t>1</a:t>
                      </a:r>
                      <a:endParaRPr lang="en-GB"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2000" u="none" strike="noStrike">
                          <a:effectLst/>
                        </a:rPr>
                        <a:t>Apus barbatus</a:t>
                      </a:r>
                      <a:endParaRPr lang="en-GB"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2000" u="none" strike="noStrike">
                          <a:effectLst/>
                        </a:rPr>
                        <a:t>24/08/2025</a:t>
                      </a:r>
                      <a:endParaRPr lang="en-GB" sz="20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5854727"/>
                  </a:ext>
                </a:extLst>
              </a:tr>
              <a:tr h="184150">
                <a:tc>
                  <a:txBody>
                    <a:bodyPr/>
                    <a:lstStyle/>
                    <a:p>
                      <a:pPr algn="r" fontAlgn="b"/>
                      <a:r>
                        <a:rPr lang="en-GB" sz="2000" u="none" strike="noStrike">
                          <a:effectLst/>
                        </a:rPr>
                        <a:t>1</a:t>
                      </a:r>
                      <a:endParaRPr lang="en-GB"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ctr"/>
                      <a:r>
                        <a:rPr lang="en-GB" sz="2000" u="none" strike="noStrike">
                          <a:effectLst/>
                        </a:rPr>
                        <a:t>Psittacus Erithacus</a:t>
                      </a:r>
                      <a:endParaRPr lang="en-GB" sz="2000" b="0" i="0" u="none" strike="noStrike">
                        <a:solidFill>
                          <a:srgbClr val="000000"/>
                        </a:solidFill>
                        <a:effectLst/>
                        <a:latin typeface="Segoe UI" panose="020B0502040204020203" pitchFamily="34" charset="0"/>
                      </a:endParaRPr>
                    </a:p>
                  </a:txBody>
                  <a:tcPr marL="6350" marR="6350" marT="6350" marB="0" anchor="ctr"/>
                </a:tc>
                <a:tc>
                  <a:txBody>
                    <a:bodyPr/>
                    <a:lstStyle/>
                    <a:p>
                      <a:pPr algn="r" fontAlgn="b"/>
                      <a:r>
                        <a:rPr lang="en-GB" sz="2000" u="none" strike="noStrike">
                          <a:effectLst/>
                        </a:rPr>
                        <a:t>24/08/2025</a:t>
                      </a:r>
                      <a:endParaRPr lang="en-GB" sz="20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66277478"/>
                  </a:ext>
                </a:extLst>
              </a:tr>
              <a:tr h="184150">
                <a:tc>
                  <a:txBody>
                    <a:bodyPr/>
                    <a:lstStyle/>
                    <a:p>
                      <a:pPr algn="r" fontAlgn="b"/>
                      <a:r>
                        <a:rPr lang="en-GB" sz="2000" u="none" strike="noStrike">
                          <a:effectLst/>
                        </a:rPr>
                        <a:t>1</a:t>
                      </a:r>
                      <a:endParaRPr lang="en-GB"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r>
                        <a:rPr lang="en-GB" sz="2000" u="none" strike="noStrike">
                          <a:effectLst/>
                        </a:rPr>
                        <a:t>Columba unicincta</a:t>
                      </a:r>
                      <a:endParaRPr lang="en-GB"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r>
                        <a:rPr lang="en-GB" sz="2000" u="none" strike="noStrike" dirty="0">
                          <a:effectLst/>
                        </a:rPr>
                        <a:t>24/08/2025</a:t>
                      </a:r>
                      <a:endParaRPr lang="en-GB"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791704131"/>
                  </a:ext>
                </a:extLst>
              </a:tr>
            </a:tbl>
          </a:graphicData>
        </a:graphic>
      </p:graphicFrame>
    </p:spTree>
    <p:extLst>
      <p:ext uri="{BB962C8B-B14F-4D97-AF65-F5344CB8AC3E}">
        <p14:creationId xmlns:p14="http://schemas.microsoft.com/office/powerpoint/2010/main" val="1899370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8C7C5-5E0B-3F3F-FB54-3EF2B121F22F}"/>
              </a:ext>
            </a:extLst>
          </p:cNvPr>
          <p:cNvSpPr>
            <a:spLocks noGrp="1"/>
          </p:cNvSpPr>
          <p:nvPr>
            <p:ph type="title"/>
          </p:nvPr>
        </p:nvSpPr>
        <p:spPr/>
        <p:txBody>
          <a:bodyPr/>
          <a:lstStyle/>
          <a:p>
            <a:r>
              <a:rPr lang="fr-FR" dirty="0"/>
              <a:t>Exemple </a:t>
            </a:r>
            <a:r>
              <a:rPr lang="en-GB" dirty="0"/>
              <a:t> 3</a:t>
            </a:r>
          </a:p>
        </p:txBody>
      </p:sp>
      <p:sp>
        <p:nvSpPr>
          <p:cNvPr id="3" name="Content Placeholder 2">
            <a:extLst>
              <a:ext uri="{FF2B5EF4-FFF2-40B4-BE49-F238E27FC236}">
                <a16:creationId xmlns:a16="http://schemas.microsoft.com/office/drawing/2014/main" id="{AF463B30-CCE9-330E-ACB9-F881023BEEA2}"/>
              </a:ext>
            </a:extLst>
          </p:cNvPr>
          <p:cNvSpPr>
            <a:spLocks noGrp="1"/>
          </p:cNvSpPr>
          <p:nvPr>
            <p:ph idx="1"/>
          </p:nvPr>
        </p:nvSpPr>
        <p:spPr/>
        <p:txBody>
          <a:bodyPr/>
          <a:lstStyle/>
          <a:p>
            <a:pPr marL="0" indent="0">
              <a:buNone/>
            </a:pPr>
            <a:r>
              <a:rPr lang="fr-FR" dirty="0"/>
              <a:t>Vous souhaitez étudier les pratiques de chasse de deux villages, y compris la chasse dans les zones protégées. Pour ce faire, vous menez des entretiens et des questionnaires. Dans le premier village, les entretiens se déroulent individuellement. Dans le deuxième village, les entretiens ont lieu en présence d'autres personnes interrogées.</a:t>
            </a:r>
            <a:endParaRPr lang="en-GB" dirty="0"/>
          </a:p>
          <a:p>
            <a:pPr marL="0" indent="0">
              <a:buNone/>
            </a:pPr>
            <a:endParaRPr lang="en-GB" dirty="0"/>
          </a:p>
          <a:p>
            <a:endParaRPr lang="en-GB" dirty="0"/>
          </a:p>
          <a:p>
            <a:endParaRPr lang="en-GB" dirty="0"/>
          </a:p>
        </p:txBody>
      </p:sp>
    </p:spTree>
    <p:extLst>
      <p:ext uri="{BB962C8B-B14F-4D97-AF65-F5344CB8AC3E}">
        <p14:creationId xmlns:p14="http://schemas.microsoft.com/office/powerpoint/2010/main" val="2371206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809EB-6A77-4B1B-3762-C29E92AA36DA}"/>
              </a:ext>
            </a:extLst>
          </p:cNvPr>
          <p:cNvSpPr>
            <a:spLocks noGrp="1"/>
          </p:cNvSpPr>
          <p:nvPr>
            <p:ph type="title"/>
          </p:nvPr>
        </p:nvSpPr>
        <p:spPr/>
        <p:txBody>
          <a:bodyPr/>
          <a:lstStyle/>
          <a:p>
            <a:r>
              <a:rPr lang="fr-FR" dirty="0"/>
              <a:t>Exemple </a:t>
            </a:r>
            <a:r>
              <a:rPr lang="en-GB" dirty="0"/>
              <a:t> 4</a:t>
            </a:r>
          </a:p>
        </p:txBody>
      </p:sp>
      <p:sp>
        <p:nvSpPr>
          <p:cNvPr id="3" name="Content Placeholder 2">
            <a:extLst>
              <a:ext uri="{FF2B5EF4-FFF2-40B4-BE49-F238E27FC236}">
                <a16:creationId xmlns:a16="http://schemas.microsoft.com/office/drawing/2014/main" id="{47F29721-E167-9771-27CD-44CD71AF50E2}"/>
              </a:ext>
            </a:extLst>
          </p:cNvPr>
          <p:cNvSpPr>
            <a:spLocks noGrp="1"/>
          </p:cNvSpPr>
          <p:nvPr>
            <p:ph idx="1"/>
          </p:nvPr>
        </p:nvSpPr>
        <p:spPr/>
        <p:txBody>
          <a:bodyPr/>
          <a:lstStyle/>
          <a:p>
            <a:pPr marL="0" indent="0">
              <a:buNone/>
            </a:pPr>
            <a:r>
              <a:rPr lang="fr-FR" dirty="0"/>
              <a:t>Vous menez une étude mesurant la biodiversité et la biomasse des poissons. Sur un premier site, les poissons sont pesés en kilogrammes à l'aide d'une balance d'une précision de 0,01 kg. Sur le deuxième site, ils sont pesés en grammes à l'aide d'une balance d'une précision de 0,1 g.</a:t>
            </a:r>
            <a:endParaRPr lang="en-GB" dirty="0"/>
          </a:p>
          <a:p>
            <a:endParaRPr lang="en-GB" dirty="0"/>
          </a:p>
        </p:txBody>
      </p:sp>
      <p:graphicFrame>
        <p:nvGraphicFramePr>
          <p:cNvPr id="4" name="Table 3">
            <a:extLst>
              <a:ext uri="{FF2B5EF4-FFF2-40B4-BE49-F238E27FC236}">
                <a16:creationId xmlns:a16="http://schemas.microsoft.com/office/drawing/2014/main" id="{F6987D05-746C-ADA9-3C35-A49B1825EC15}"/>
              </a:ext>
            </a:extLst>
          </p:cNvPr>
          <p:cNvGraphicFramePr>
            <a:graphicFrameLocks noGrp="1"/>
          </p:cNvGraphicFramePr>
          <p:nvPr>
            <p:extLst>
              <p:ext uri="{D42A27DB-BD31-4B8C-83A1-F6EECF244321}">
                <p14:modId xmlns:p14="http://schemas.microsoft.com/office/powerpoint/2010/main" val="2079629898"/>
              </p:ext>
            </p:extLst>
          </p:nvPr>
        </p:nvGraphicFramePr>
        <p:xfrm>
          <a:off x="2032000" y="3931920"/>
          <a:ext cx="8128000" cy="2225040"/>
        </p:xfrm>
        <a:graphic>
          <a:graphicData uri="http://schemas.openxmlformats.org/drawingml/2006/table">
            <a:tbl>
              <a:tblPr firstRow="1" bandRow="1">
                <a:tableStyleId>{7E9639D4-E3E2-4D34-9284-5A2195B3D0D7}</a:tableStyleId>
              </a:tblPr>
              <a:tblGrid>
                <a:gridCol w="4064000">
                  <a:extLst>
                    <a:ext uri="{9D8B030D-6E8A-4147-A177-3AD203B41FA5}">
                      <a16:colId xmlns:a16="http://schemas.microsoft.com/office/drawing/2014/main" val="539121935"/>
                    </a:ext>
                  </a:extLst>
                </a:gridCol>
                <a:gridCol w="4064000">
                  <a:extLst>
                    <a:ext uri="{9D8B030D-6E8A-4147-A177-3AD203B41FA5}">
                      <a16:colId xmlns:a16="http://schemas.microsoft.com/office/drawing/2014/main" val="2902071427"/>
                    </a:ext>
                  </a:extLst>
                </a:gridCol>
              </a:tblGrid>
              <a:tr h="370840">
                <a:tc>
                  <a:txBody>
                    <a:bodyPr/>
                    <a:lstStyle/>
                    <a:p>
                      <a:r>
                        <a:rPr lang="en-GB" dirty="0"/>
                        <a:t>Site 1 (kg)</a:t>
                      </a:r>
                    </a:p>
                  </a:txBody>
                  <a:tcPr/>
                </a:tc>
                <a:tc>
                  <a:txBody>
                    <a:bodyPr/>
                    <a:lstStyle/>
                    <a:p>
                      <a:r>
                        <a:rPr lang="en-GB" dirty="0"/>
                        <a:t>Site 2 (g)</a:t>
                      </a:r>
                    </a:p>
                  </a:txBody>
                  <a:tcPr/>
                </a:tc>
                <a:extLst>
                  <a:ext uri="{0D108BD9-81ED-4DB2-BD59-A6C34878D82A}">
                    <a16:rowId xmlns:a16="http://schemas.microsoft.com/office/drawing/2014/main" val="2215058452"/>
                  </a:ext>
                </a:extLst>
              </a:tr>
              <a:tr h="370840">
                <a:tc>
                  <a:txBody>
                    <a:bodyPr/>
                    <a:lstStyle/>
                    <a:p>
                      <a:r>
                        <a:rPr lang="en-GB" dirty="0"/>
                        <a:t>1.23</a:t>
                      </a:r>
                    </a:p>
                  </a:txBody>
                  <a:tcPr/>
                </a:tc>
                <a:tc>
                  <a:txBody>
                    <a:bodyPr/>
                    <a:lstStyle/>
                    <a:p>
                      <a:r>
                        <a:rPr lang="en-GB" dirty="0"/>
                        <a:t>1103.1</a:t>
                      </a:r>
                    </a:p>
                  </a:txBody>
                  <a:tcPr/>
                </a:tc>
                <a:extLst>
                  <a:ext uri="{0D108BD9-81ED-4DB2-BD59-A6C34878D82A}">
                    <a16:rowId xmlns:a16="http://schemas.microsoft.com/office/drawing/2014/main" val="1336790684"/>
                  </a:ext>
                </a:extLst>
              </a:tr>
              <a:tr h="370840">
                <a:tc>
                  <a:txBody>
                    <a:bodyPr/>
                    <a:lstStyle/>
                    <a:p>
                      <a:r>
                        <a:rPr lang="en-GB" dirty="0"/>
                        <a:t>0.97</a:t>
                      </a:r>
                    </a:p>
                  </a:txBody>
                  <a:tcPr/>
                </a:tc>
                <a:tc>
                  <a:txBody>
                    <a:bodyPr/>
                    <a:lstStyle/>
                    <a:p>
                      <a:r>
                        <a:rPr lang="en-GB" dirty="0"/>
                        <a:t>895.4</a:t>
                      </a:r>
                    </a:p>
                  </a:txBody>
                  <a:tcPr/>
                </a:tc>
                <a:extLst>
                  <a:ext uri="{0D108BD9-81ED-4DB2-BD59-A6C34878D82A}">
                    <a16:rowId xmlns:a16="http://schemas.microsoft.com/office/drawing/2014/main" val="3357685503"/>
                  </a:ext>
                </a:extLst>
              </a:tr>
              <a:tr h="370840">
                <a:tc>
                  <a:txBody>
                    <a:bodyPr/>
                    <a:lstStyle/>
                    <a:p>
                      <a:r>
                        <a:rPr lang="en-GB" dirty="0"/>
                        <a:t>0.89</a:t>
                      </a:r>
                    </a:p>
                  </a:txBody>
                  <a:tcPr/>
                </a:tc>
                <a:tc>
                  <a:txBody>
                    <a:bodyPr/>
                    <a:lstStyle/>
                    <a:p>
                      <a:r>
                        <a:rPr lang="en-GB" dirty="0"/>
                        <a:t>1000.3</a:t>
                      </a:r>
                    </a:p>
                  </a:txBody>
                  <a:tcPr/>
                </a:tc>
                <a:extLst>
                  <a:ext uri="{0D108BD9-81ED-4DB2-BD59-A6C34878D82A}">
                    <a16:rowId xmlns:a16="http://schemas.microsoft.com/office/drawing/2014/main" val="233389472"/>
                  </a:ext>
                </a:extLst>
              </a:tr>
              <a:tr h="370840">
                <a:tc>
                  <a:txBody>
                    <a:bodyPr/>
                    <a:lstStyle/>
                    <a:p>
                      <a:r>
                        <a:rPr lang="en-GB" dirty="0"/>
                        <a:t>1.05</a:t>
                      </a:r>
                    </a:p>
                  </a:txBody>
                  <a:tcPr/>
                </a:tc>
                <a:tc>
                  <a:txBody>
                    <a:bodyPr/>
                    <a:lstStyle/>
                    <a:p>
                      <a:r>
                        <a:rPr lang="en-GB" dirty="0"/>
                        <a:t>913.2</a:t>
                      </a:r>
                    </a:p>
                  </a:txBody>
                  <a:tcPr/>
                </a:tc>
                <a:extLst>
                  <a:ext uri="{0D108BD9-81ED-4DB2-BD59-A6C34878D82A}">
                    <a16:rowId xmlns:a16="http://schemas.microsoft.com/office/drawing/2014/main" val="3784251276"/>
                  </a:ext>
                </a:extLst>
              </a:tr>
              <a:tr h="370840">
                <a:tc>
                  <a:txBody>
                    <a:bodyPr/>
                    <a:lstStyle/>
                    <a:p>
                      <a:r>
                        <a:rPr lang="en-GB" dirty="0"/>
                        <a:t>1.11</a:t>
                      </a:r>
                    </a:p>
                  </a:txBody>
                  <a:tcPr/>
                </a:tc>
                <a:tc>
                  <a:txBody>
                    <a:bodyPr/>
                    <a:lstStyle/>
                    <a:p>
                      <a:r>
                        <a:rPr lang="en-GB" dirty="0"/>
                        <a:t>1023.0</a:t>
                      </a:r>
                    </a:p>
                  </a:txBody>
                  <a:tcPr/>
                </a:tc>
                <a:extLst>
                  <a:ext uri="{0D108BD9-81ED-4DB2-BD59-A6C34878D82A}">
                    <a16:rowId xmlns:a16="http://schemas.microsoft.com/office/drawing/2014/main" val="1513667834"/>
                  </a:ext>
                </a:extLst>
              </a:tr>
            </a:tbl>
          </a:graphicData>
        </a:graphic>
      </p:graphicFrame>
    </p:spTree>
    <p:extLst>
      <p:ext uri="{BB962C8B-B14F-4D97-AF65-F5344CB8AC3E}">
        <p14:creationId xmlns:p14="http://schemas.microsoft.com/office/powerpoint/2010/main" val="4143780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55447-32F6-F35C-92FA-F329862F4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103D09-8560-9EA7-D75E-E20A22D955E9}"/>
              </a:ext>
            </a:extLst>
          </p:cNvPr>
          <p:cNvSpPr>
            <a:spLocks noGrp="1"/>
          </p:cNvSpPr>
          <p:nvPr>
            <p:ph type="title"/>
          </p:nvPr>
        </p:nvSpPr>
        <p:spPr/>
        <p:txBody>
          <a:bodyPr/>
          <a:lstStyle/>
          <a:p>
            <a:r>
              <a:rPr lang="fr-FR" dirty="0"/>
              <a:t>Exemple </a:t>
            </a:r>
            <a:r>
              <a:rPr lang="en-GB" dirty="0"/>
              <a:t> 4</a:t>
            </a:r>
          </a:p>
        </p:txBody>
      </p:sp>
      <p:graphicFrame>
        <p:nvGraphicFramePr>
          <p:cNvPr id="4" name="Table 3">
            <a:extLst>
              <a:ext uri="{FF2B5EF4-FFF2-40B4-BE49-F238E27FC236}">
                <a16:creationId xmlns:a16="http://schemas.microsoft.com/office/drawing/2014/main" id="{189289FA-E4A6-88D2-AD7A-A50059DA2231}"/>
              </a:ext>
            </a:extLst>
          </p:cNvPr>
          <p:cNvGraphicFramePr>
            <a:graphicFrameLocks noGrp="1"/>
          </p:cNvGraphicFramePr>
          <p:nvPr>
            <p:extLst>
              <p:ext uri="{D42A27DB-BD31-4B8C-83A1-F6EECF244321}">
                <p14:modId xmlns:p14="http://schemas.microsoft.com/office/powerpoint/2010/main" val="498862867"/>
              </p:ext>
            </p:extLst>
          </p:nvPr>
        </p:nvGraphicFramePr>
        <p:xfrm>
          <a:off x="2032000" y="3931920"/>
          <a:ext cx="8128000" cy="2225040"/>
        </p:xfrm>
        <a:graphic>
          <a:graphicData uri="http://schemas.openxmlformats.org/drawingml/2006/table">
            <a:tbl>
              <a:tblPr firstRow="1" bandRow="1">
                <a:tableStyleId>{7E9639D4-E3E2-4D34-9284-5A2195B3D0D7}</a:tableStyleId>
              </a:tblPr>
              <a:tblGrid>
                <a:gridCol w="4064000">
                  <a:extLst>
                    <a:ext uri="{9D8B030D-6E8A-4147-A177-3AD203B41FA5}">
                      <a16:colId xmlns:a16="http://schemas.microsoft.com/office/drawing/2014/main" val="539121935"/>
                    </a:ext>
                  </a:extLst>
                </a:gridCol>
                <a:gridCol w="4064000">
                  <a:extLst>
                    <a:ext uri="{9D8B030D-6E8A-4147-A177-3AD203B41FA5}">
                      <a16:colId xmlns:a16="http://schemas.microsoft.com/office/drawing/2014/main" val="2902071427"/>
                    </a:ext>
                  </a:extLst>
                </a:gridCol>
              </a:tblGrid>
              <a:tr h="370840">
                <a:tc>
                  <a:txBody>
                    <a:bodyPr/>
                    <a:lstStyle/>
                    <a:p>
                      <a:r>
                        <a:rPr lang="en-GB" dirty="0"/>
                        <a:t>Site 1 (g)</a:t>
                      </a:r>
                    </a:p>
                  </a:txBody>
                  <a:tcPr/>
                </a:tc>
                <a:tc>
                  <a:txBody>
                    <a:bodyPr/>
                    <a:lstStyle/>
                    <a:p>
                      <a:r>
                        <a:rPr lang="en-GB" dirty="0"/>
                        <a:t>Site 2 (g)</a:t>
                      </a:r>
                    </a:p>
                  </a:txBody>
                  <a:tcPr/>
                </a:tc>
                <a:extLst>
                  <a:ext uri="{0D108BD9-81ED-4DB2-BD59-A6C34878D82A}">
                    <a16:rowId xmlns:a16="http://schemas.microsoft.com/office/drawing/2014/main" val="2215058452"/>
                  </a:ext>
                </a:extLst>
              </a:tr>
              <a:tr h="370840">
                <a:tc>
                  <a:txBody>
                    <a:bodyPr/>
                    <a:lstStyle/>
                    <a:p>
                      <a:r>
                        <a:rPr lang="en-GB" dirty="0"/>
                        <a:t>1.2300</a:t>
                      </a:r>
                    </a:p>
                  </a:txBody>
                  <a:tcPr/>
                </a:tc>
                <a:tc>
                  <a:txBody>
                    <a:bodyPr/>
                    <a:lstStyle/>
                    <a:p>
                      <a:r>
                        <a:rPr lang="en-GB" dirty="0"/>
                        <a:t>1103.1</a:t>
                      </a:r>
                    </a:p>
                  </a:txBody>
                  <a:tcPr/>
                </a:tc>
                <a:extLst>
                  <a:ext uri="{0D108BD9-81ED-4DB2-BD59-A6C34878D82A}">
                    <a16:rowId xmlns:a16="http://schemas.microsoft.com/office/drawing/2014/main" val="1336790684"/>
                  </a:ext>
                </a:extLst>
              </a:tr>
              <a:tr h="370840">
                <a:tc>
                  <a:txBody>
                    <a:bodyPr/>
                    <a:lstStyle/>
                    <a:p>
                      <a:r>
                        <a:rPr lang="en-GB" dirty="0"/>
                        <a:t>0.9700</a:t>
                      </a:r>
                    </a:p>
                  </a:txBody>
                  <a:tcPr/>
                </a:tc>
                <a:tc>
                  <a:txBody>
                    <a:bodyPr/>
                    <a:lstStyle/>
                    <a:p>
                      <a:r>
                        <a:rPr lang="en-GB" dirty="0"/>
                        <a:t>895.4</a:t>
                      </a:r>
                    </a:p>
                  </a:txBody>
                  <a:tcPr/>
                </a:tc>
                <a:extLst>
                  <a:ext uri="{0D108BD9-81ED-4DB2-BD59-A6C34878D82A}">
                    <a16:rowId xmlns:a16="http://schemas.microsoft.com/office/drawing/2014/main" val="3357685503"/>
                  </a:ext>
                </a:extLst>
              </a:tr>
              <a:tr h="370840">
                <a:tc>
                  <a:txBody>
                    <a:bodyPr/>
                    <a:lstStyle/>
                    <a:p>
                      <a:r>
                        <a:rPr lang="en-GB" dirty="0"/>
                        <a:t>0.8900</a:t>
                      </a:r>
                    </a:p>
                  </a:txBody>
                  <a:tcPr/>
                </a:tc>
                <a:tc>
                  <a:txBody>
                    <a:bodyPr/>
                    <a:lstStyle/>
                    <a:p>
                      <a:r>
                        <a:rPr lang="en-GB" dirty="0"/>
                        <a:t>1000.3</a:t>
                      </a:r>
                    </a:p>
                  </a:txBody>
                  <a:tcPr/>
                </a:tc>
                <a:extLst>
                  <a:ext uri="{0D108BD9-81ED-4DB2-BD59-A6C34878D82A}">
                    <a16:rowId xmlns:a16="http://schemas.microsoft.com/office/drawing/2014/main" val="233389472"/>
                  </a:ext>
                </a:extLst>
              </a:tr>
              <a:tr h="370840">
                <a:tc>
                  <a:txBody>
                    <a:bodyPr/>
                    <a:lstStyle/>
                    <a:p>
                      <a:r>
                        <a:rPr lang="en-GB" dirty="0"/>
                        <a:t>1.0500</a:t>
                      </a:r>
                    </a:p>
                  </a:txBody>
                  <a:tcPr/>
                </a:tc>
                <a:tc>
                  <a:txBody>
                    <a:bodyPr/>
                    <a:lstStyle/>
                    <a:p>
                      <a:r>
                        <a:rPr lang="en-GB" dirty="0"/>
                        <a:t>913.2</a:t>
                      </a:r>
                    </a:p>
                  </a:txBody>
                  <a:tcPr/>
                </a:tc>
                <a:extLst>
                  <a:ext uri="{0D108BD9-81ED-4DB2-BD59-A6C34878D82A}">
                    <a16:rowId xmlns:a16="http://schemas.microsoft.com/office/drawing/2014/main" val="3784251276"/>
                  </a:ext>
                </a:extLst>
              </a:tr>
              <a:tr h="370840">
                <a:tc>
                  <a:txBody>
                    <a:bodyPr/>
                    <a:lstStyle/>
                    <a:p>
                      <a:r>
                        <a:rPr lang="en-GB" dirty="0"/>
                        <a:t>1.1100</a:t>
                      </a:r>
                    </a:p>
                  </a:txBody>
                  <a:tcPr/>
                </a:tc>
                <a:tc>
                  <a:txBody>
                    <a:bodyPr/>
                    <a:lstStyle/>
                    <a:p>
                      <a:r>
                        <a:rPr lang="en-GB" dirty="0"/>
                        <a:t>1023.0</a:t>
                      </a:r>
                    </a:p>
                  </a:txBody>
                  <a:tcPr/>
                </a:tc>
                <a:extLst>
                  <a:ext uri="{0D108BD9-81ED-4DB2-BD59-A6C34878D82A}">
                    <a16:rowId xmlns:a16="http://schemas.microsoft.com/office/drawing/2014/main" val="1513667834"/>
                  </a:ext>
                </a:extLst>
              </a:tr>
            </a:tbl>
          </a:graphicData>
        </a:graphic>
      </p:graphicFrame>
      <p:sp>
        <p:nvSpPr>
          <p:cNvPr id="5" name="Multiplication Sign 4">
            <a:extLst>
              <a:ext uri="{FF2B5EF4-FFF2-40B4-BE49-F238E27FC236}">
                <a16:creationId xmlns:a16="http://schemas.microsoft.com/office/drawing/2014/main" id="{CA8CACBA-0B47-1E14-232B-44546FBC0151}"/>
              </a:ext>
            </a:extLst>
          </p:cNvPr>
          <p:cNvSpPr/>
          <p:nvPr/>
        </p:nvSpPr>
        <p:spPr>
          <a:xfrm>
            <a:off x="4312920" y="894080"/>
            <a:ext cx="3210560" cy="3342323"/>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88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67139-C84D-97CF-3FA6-24D37C8F3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69F1A-651B-1C42-A253-3DA258AE6406}"/>
              </a:ext>
            </a:extLst>
          </p:cNvPr>
          <p:cNvSpPr>
            <a:spLocks noGrp="1"/>
          </p:cNvSpPr>
          <p:nvPr>
            <p:ph type="title"/>
          </p:nvPr>
        </p:nvSpPr>
        <p:spPr/>
        <p:txBody>
          <a:bodyPr/>
          <a:lstStyle/>
          <a:p>
            <a:r>
              <a:rPr lang="fr-FR" dirty="0"/>
              <a:t>Exemple </a:t>
            </a:r>
            <a:r>
              <a:rPr lang="en-GB" dirty="0"/>
              <a:t> 4</a:t>
            </a:r>
          </a:p>
        </p:txBody>
      </p:sp>
      <p:graphicFrame>
        <p:nvGraphicFramePr>
          <p:cNvPr id="4" name="Table 3">
            <a:extLst>
              <a:ext uri="{FF2B5EF4-FFF2-40B4-BE49-F238E27FC236}">
                <a16:creationId xmlns:a16="http://schemas.microsoft.com/office/drawing/2014/main" id="{3A433ACA-00B4-D659-54CD-80FF4465A670}"/>
              </a:ext>
            </a:extLst>
          </p:cNvPr>
          <p:cNvGraphicFramePr>
            <a:graphicFrameLocks noGrp="1"/>
          </p:cNvGraphicFramePr>
          <p:nvPr>
            <p:extLst>
              <p:ext uri="{D42A27DB-BD31-4B8C-83A1-F6EECF244321}">
                <p14:modId xmlns:p14="http://schemas.microsoft.com/office/powerpoint/2010/main" val="518664709"/>
              </p:ext>
            </p:extLst>
          </p:nvPr>
        </p:nvGraphicFramePr>
        <p:xfrm>
          <a:off x="2032000" y="3931920"/>
          <a:ext cx="8128000" cy="2225040"/>
        </p:xfrm>
        <a:graphic>
          <a:graphicData uri="http://schemas.openxmlformats.org/drawingml/2006/table">
            <a:tbl>
              <a:tblPr firstRow="1" bandRow="1">
                <a:tableStyleId>{7E9639D4-E3E2-4D34-9284-5A2195B3D0D7}</a:tableStyleId>
              </a:tblPr>
              <a:tblGrid>
                <a:gridCol w="4064000">
                  <a:extLst>
                    <a:ext uri="{9D8B030D-6E8A-4147-A177-3AD203B41FA5}">
                      <a16:colId xmlns:a16="http://schemas.microsoft.com/office/drawing/2014/main" val="539121935"/>
                    </a:ext>
                  </a:extLst>
                </a:gridCol>
                <a:gridCol w="4064000">
                  <a:extLst>
                    <a:ext uri="{9D8B030D-6E8A-4147-A177-3AD203B41FA5}">
                      <a16:colId xmlns:a16="http://schemas.microsoft.com/office/drawing/2014/main" val="2902071427"/>
                    </a:ext>
                  </a:extLst>
                </a:gridCol>
              </a:tblGrid>
              <a:tr h="370840">
                <a:tc>
                  <a:txBody>
                    <a:bodyPr/>
                    <a:lstStyle/>
                    <a:p>
                      <a:r>
                        <a:rPr lang="en-GB" dirty="0"/>
                        <a:t>Site 1 (kg)</a:t>
                      </a:r>
                    </a:p>
                  </a:txBody>
                  <a:tcPr/>
                </a:tc>
                <a:tc>
                  <a:txBody>
                    <a:bodyPr/>
                    <a:lstStyle/>
                    <a:p>
                      <a:r>
                        <a:rPr lang="en-GB" dirty="0"/>
                        <a:t>Site 2 (kg)</a:t>
                      </a:r>
                    </a:p>
                  </a:txBody>
                  <a:tcPr/>
                </a:tc>
                <a:extLst>
                  <a:ext uri="{0D108BD9-81ED-4DB2-BD59-A6C34878D82A}">
                    <a16:rowId xmlns:a16="http://schemas.microsoft.com/office/drawing/2014/main" val="2215058452"/>
                  </a:ext>
                </a:extLst>
              </a:tr>
              <a:tr h="370840">
                <a:tc>
                  <a:txBody>
                    <a:bodyPr/>
                    <a:lstStyle/>
                    <a:p>
                      <a:r>
                        <a:rPr lang="en-GB" dirty="0"/>
                        <a:t>1.23</a:t>
                      </a:r>
                    </a:p>
                  </a:txBody>
                  <a:tcPr/>
                </a:tc>
                <a:tc>
                  <a:txBody>
                    <a:bodyPr/>
                    <a:lstStyle/>
                    <a:p>
                      <a:r>
                        <a:rPr lang="en-GB" dirty="0"/>
                        <a:t>1.10</a:t>
                      </a:r>
                    </a:p>
                  </a:txBody>
                  <a:tcPr/>
                </a:tc>
                <a:extLst>
                  <a:ext uri="{0D108BD9-81ED-4DB2-BD59-A6C34878D82A}">
                    <a16:rowId xmlns:a16="http://schemas.microsoft.com/office/drawing/2014/main" val="1336790684"/>
                  </a:ext>
                </a:extLst>
              </a:tr>
              <a:tr h="370840">
                <a:tc>
                  <a:txBody>
                    <a:bodyPr/>
                    <a:lstStyle/>
                    <a:p>
                      <a:r>
                        <a:rPr lang="en-GB" dirty="0"/>
                        <a:t>0.97</a:t>
                      </a:r>
                    </a:p>
                  </a:txBody>
                  <a:tcPr/>
                </a:tc>
                <a:tc>
                  <a:txBody>
                    <a:bodyPr/>
                    <a:lstStyle/>
                    <a:p>
                      <a:r>
                        <a:rPr lang="en-GB" dirty="0"/>
                        <a:t>0.90</a:t>
                      </a:r>
                    </a:p>
                  </a:txBody>
                  <a:tcPr/>
                </a:tc>
                <a:extLst>
                  <a:ext uri="{0D108BD9-81ED-4DB2-BD59-A6C34878D82A}">
                    <a16:rowId xmlns:a16="http://schemas.microsoft.com/office/drawing/2014/main" val="3357685503"/>
                  </a:ext>
                </a:extLst>
              </a:tr>
              <a:tr h="370840">
                <a:tc>
                  <a:txBody>
                    <a:bodyPr/>
                    <a:lstStyle/>
                    <a:p>
                      <a:r>
                        <a:rPr lang="en-GB" dirty="0"/>
                        <a:t>0.89</a:t>
                      </a:r>
                    </a:p>
                  </a:txBody>
                  <a:tcPr/>
                </a:tc>
                <a:tc>
                  <a:txBody>
                    <a:bodyPr/>
                    <a:lstStyle/>
                    <a:p>
                      <a:r>
                        <a:rPr lang="en-GB" dirty="0"/>
                        <a:t>1.00</a:t>
                      </a:r>
                    </a:p>
                  </a:txBody>
                  <a:tcPr/>
                </a:tc>
                <a:extLst>
                  <a:ext uri="{0D108BD9-81ED-4DB2-BD59-A6C34878D82A}">
                    <a16:rowId xmlns:a16="http://schemas.microsoft.com/office/drawing/2014/main" val="233389472"/>
                  </a:ext>
                </a:extLst>
              </a:tr>
              <a:tr h="370840">
                <a:tc>
                  <a:txBody>
                    <a:bodyPr/>
                    <a:lstStyle/>
                    <a:p>
                      <a:r>
                        <a:rPr lang="en-GB" dirty="0"/>
                        <a:t>1.05</a:t>
                      </a:r>
                    </a:p>
                  </a:txBody>
                  <a:tcPr/>
                </a:tc>
                <a:tc>
                  <a:txBody>
                    <a:bodyPr/>
                    <a:lstStyle/>
                    <a:p>
                      <a:r>
                        <a:rPr lang="en-GB" dirty="0"/>
                        <a:t>0.91</a:t>
                      </a:r>
                    </a:p>
                  </a:txBody>
                  <a:tcPr/>
                </a:tc>
                <a:extLst>
                  <a:ext uri="{0D108BD9-81ED-4DB2-BD59-A6C34878D82A}">
                    <a16:rowId xmlns:a16="http://schemas.microsoft.com/office/drawing/2014/main" val="3784251276"/>
                  </a:ext>
                </a:extLst>
              </a:tr>
              <a:tr h="370840">
                <a:tc>
                  <a:txBody>
                    <a:bodyPr/>
                    <a:lstStyle/>
                    <a:p>
                      <a:r>
                        <a:rPr lang="en-GB" dirty="0"/>
                        <a:t>1.11</a:t>
                      </a:r>
                    </a:p>
                  </a:txBody>
                  <a:tcPr/>
                </a:tc>
                <a:tc>
                  <a:txBody>
                    <a:bodyPr/>
                    <a:lstStyle/>
                    <a:p>
                      <a:r>
                        <a:rPr lang="en-GB" dirty="0"/>
                        <a:t>1.02</a:t>
                      </a:r>
                    </a:p>
                  </a:txBody>
                  <a:tcPr/>
                </a:tc>
                <a:extLst>
                  <a:ext uri="{0D108BD9-81ED-4DB2-BD59-A6C34878D82A}">
                    <a16:rowId xmlns:a16="http://schemas.microsoft.com/office/drawing/2014/main" val="1513667834"/>
                  </a:ext>
                </a:extLst>
              </a:tr>
            </a:tbl>
          </a:graphicData>
        </a:graphic>
      </p:graphicFrame>
      <p:sp>
        <p:nvSpPr>
          <p:cNvPr id="5" name="TextBox 4">
            <a:extLst>
              <a:ext uri="{FF2B5EF4-FFF2-40B4-BE49-F238E27FC236}">
                <a16:creationId xmlns:a16="http://schemas.microsoft.com/office/drawing/2014/main" id="{78DAA12E-22A7-8A01-8625-72FF61B641ED}"/>
              </a:ext>
            </a:extLst>
          </p:cNvPr>
          <p:cNvSpPr txBox="1"/>
          <p:nvPr/>
        </p:nvSpPr>
        <p:spPr>
          <a:xfrm>
            <a:off x="4968240" y="1226255"/>
            <a:ext cx="3180080" cy="3170099"/>
          </a:xfrm>
          <a:prstGeom prst="rect">
            <a:avLst/>
          </a:prstGeom>
          <a:noFill/>
        </p:spPr>
        <p:txBody>
          <a:bodyPr wrap="square" rtlCol="0">
            <a:spAutoFit/>
          </a:bodyPr>
          <a:lstStyle/>
          <a:p>
            <a:r>
              <a:rPr lang="en-GB" sz="20000" dirty="0">
                <a:solidFill>
                  <a:schemeClr val="accent6">
                    <a:lumMod val="60000"/>
                    <a:lumOff val="40000"/>
                  </a:schemeClr>
                </a:solidFill>
              </a:rPr>
              <a:t>✔</a:t>
            </a:r>
          </a:p>
        </p:txBody>
      </p:sp>
    </p:spTree>
    <p:extLst>
      <p:ext uri="{BB962C8B-B14F-4D97-AF65-F5344CB8AC3E}">
        <p14:creationId xmlns:p14="http://schemas.microsoft.com/office/powerpoint/2010/main" val="4207195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5B4F1-4AFB-430C-D8DC-BABFE5845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91C0B1-B0C3-9E0E-D3BB-C6FF1BDEBE34}"/>
              </a:ext>
            </a:extLst>
          </p:cNvPr>
          <p:cNvSpPr>
            <a:spLocks noGrp="1"/>
          </p:cNvSpPr>
          <p:nvPr>
            <p:ph type="title"/>
          </p:nvPr>
        </p:nvSpPr>
        <p:spPr/>
        <p:txBody>
          <a:bodyPr/>
          <a:lstStyle/>
          <a:p>
            <a:r>
              <a:rPr lang="fr-FR" dirty="0"/>
              <a:t>Exemple </a:t>
            </a:r>
            <a:r>
              <a:rPr lang="en-GB" dirty="0"/>
              <a:t> 5</a:t>
            </a:r>
          </a:p>
        </p:txBody>
      </p:sp>
      <p:sp>
        <p:nvSpPr>
          <p:cNvPr id="3" name="Content Placeholder 2">
            <a:extLst>
              <a:ext uri="{FF2B5EF4-FFF2-40B4-BE49-F238E27FC236}">
                <a16:creationId xmlns:a16="http://schemas.microsoft.com/office/drawing/2014/main" id="{783B3328-2E0B-8B62-B42C-8BCFFB413513}"/>
              </a:ext>
            </a:extLst>
          </p:cNvPr>
          <p:cNvSpPr>
            <a:spLocks noGrp="1"/>
          </p:cNvSpPr>
          <p:nvPr>
            <p:ph idx="1"/>
          </p:nvPr>
        </p:nvSpPr>
        <p:spPr/>
        <p:txBody>
          <a:bodyPr/>
          <a:lstStyle/>
          <a:p>
            <a:pPr marL="0" indent="0">
              <a:buNone/>
            </a:pPr>
            <a:r>
              <a:rPr lang="fr-FR" dirty="0"/>
              <a:t>Vous souhaitez comprendre le rôle des femmes dans la vie communautaire de deux communautés. Dans la première, vous passez deux semaines avec cinq femmes, en menant des entretiens et en les observant dans leurs activités quotidiennes. Dans la seconde, vous menez également des entretiens avec cinq femmes et les observez dans leurs activités quotidiennes. Cependant, vous ne disposez que de cinq jours sur place, car vous devez retourner à votre université pour un congrès.</a:t>
            </a:r>
            <a:endParaRPr lang="en-GB" dirty="0"/>
          </a:p>
          <a:p>
            <a:endParaRPr lang="en-GB" dirty="0"/>
          </a:p>
        </p:txBody>
      </p:sp>
    </p:spTree>
    <p:extLst>
      <p:ext uri="{BB962C8B-B14F-4D97-AF65-F5344CB8AC3E}">
        <p14:creationId xmlns:p14="http://schemas.microsoft.com/office/powerpoint/2010/main" val="2147658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6D3F9-9440-A0A7-1E3A-1E898B44577C}"/>
              </a:ext>
            </a:extLst>
          </p:cNvPr>
          <p:cNvSpPr>
            <a:spLocks noGrp="1"/>
          </p:cNvSpPr>
          <p:nvPr>
            <p:ph type="title"/>
          </p:nvPr>
        </p:nvSpPr>
        <p:spPr/>
        <p:txBody>
          <a:bodyPr/>
          <a:lstStyle/>
          <a:p>
            <a:r>
              <a:rPr lang="fr-FR" dirty="0"/>
              <a:t>Exemple </a:t>
            </a:r>
            <a:r>
              <a:rPr lang="en-GB" dirty="0"/>
              <a:t> 6</a:t>
            </a:r>
          </a:p>
        </p:txBody>
      </p:sp>
      <p:sp>
        <p:nvSpPr>
          <p:cNvPr id="3" name="Content Placeholder 2">
            <a:extLst>
              <a:ext uri="{FF2B5EF4-FFF2-40B4-BE49-F238E27FC236}">
                <a16:creationId xmlns:a16="http://schemas.microsoft.com/office/drawing/2014/main" id="{4D8B6A34-FC3C-62B7-2476-37D4F1B1587E}"/>
              </a:ext>
            </a:extLst>
          </p:cNvPr>
          <p:cNvSpPr>
            <a:spLocks noGrp="1"/>
          </p:cNvSpPr>
          <p:nvPr>
            <p:ph idx="1"/>
          </p:nvPr>
        </p:nvSpPr>
        <p:spPr/>
        <p:txBody>
          <a:bodyPr/>
          <a:lstStyle/>
          <a:p>
            <a:pPr marL="0" indent="0">
              <a:buNone/>
            </a:pPr>
            <a:r>
              <a:rPr lang="fr-FR" dirty="0"/>
              <a:t>Vous avez installé deux parcelles forestières. L'une mesure 1 ha et l'autre 0,5 ha. Dans chaque parcelle, vous avez compté le nombre d'arbres présents et le nombre d'espèces. Vous souhaitez comparer le nombre de tiges et le nombre d'espèces par parcelle. Est-ce possible, compte tenu de la différence de taille des parcelles ?</a:t>
            </a:r>
            <a:endParaRPr lang="en-GB" dirty="0"/>
          </a:p>
        </p:txBody>
      </p:sp>
    </p:spTree>
    <p:extLst>
      <p:ext uri="{BB962C8B-B14F-4D97-AF65-F5344CB8AC3E}">
        <p14:creationId xmlns:p14="http://schemas.microsoft.com/office/powerpoint/2010/main" val="213250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loud 3">
            <a:extLst>
              <a:ext uri="{FF2B5EF4-FFF2-40B4-BE49-F238E27FC236}">
                <a16:creationId xmlns:a16="http://schemas.microsoft.com/office/drawing/2014/main" id="{0921BA56-DF8C-26C4-4A4A-74F748440BED}"/>
              </a:ext>
            </a:extLst>
          </p:cNvPr>
          <p:cNvSpPr/>
          <p:nvPr/>
        </p:nvSpPr>
        <p:spPr>
          <a:xfrm>
            <a:off x="2915920" y="2011680"/>
            <a:ext cx="680720" cy="59944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Cloud 5">
            <a:extLst>
              <a:ext uri="{FF2B5EF4-FFF2-40B4-BE49-F238E27FC236}">
                <a16:creationId xmlns:a16="http://schemas.microsoft.com/office/drawing/2014/main" id="{01D8AC39-7509-754F-8F85-7B75E5FB5C1D}"/>
              </a:ext>
            </a:extLst>
          </p:cNvPr>
          <p:cNvSpPr/>
          <p:nvPr/>
        </p:nvSpPr>
        <p:spPr>
          <a:xfrm>
            <a:off x="3789680" y="1711960"/>
            <a:ext cx="680720" cy="599440"/>
          </a:xfrm>
          <a:prstGeom prst="cloud">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loud 6">
            <a:extLst>
              <a:ext uri="{FF2B5EF4-FFF2-40B4-BE49-F238E27FC236}">
                <a16:creationId xmlns:a16="http://schemas.microsoft.com/office/drawing/2014/main" id="{8EE95505-A457-B006-3D6D-DA0B158EEBF6}"/>
              </a:ext>
            </a:extLst>
          </p:cNvPr>
          <p:cNvSpPr/>
          <p:nvPr/>
        </p:nvSpPr>
        <p:spPr>
          <a:xfrm>
            <a:off x="2773680" y="2727960"/>
            <a:ext cx="680720" cy="599440"/>
          </a:xfrm>
          <a:prstGeom prst="cloud">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Cloud 7">
            <a:extLst>
              <a:ext uri="{FF2B5EF4-FFF2-40B4-BE49-F238E27FC236}">
                <a16:creationId xmlns:a16="http://schemas.microsoft.com/office/drawing/2014/main" id="{6D59A11A-1F17-CA48-543E-24CDF6B58E01}"/>
              </a:ext>
            </a:extLst>
          </p:cNvPr>
          <p:cNvSpPr/>
          <p:nvPr/>
        </p:nvSpPr>
        <p:spPr>
          <a:xfrm>
            <a:off x="2915920" y="1275080"/>
            <a:ext cx="680720" cy="599440"/>
          </a:xfrm>
          <a:prstGeom prst="cloud">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Cloud 8">
            <a:extLst>
              <a:ext uri="{FF2B5EF4-FFF2-40B4-BE49-F238E27FC236}">
                <a16:creationId xmlns:a16="http://schemas.microsoft.com/office/drawing/2014/main" id="{74D866B3-33D5-9A8F-249E-51517CFCEB4C}"/>
              </a:ext>
            </a:extLst>
          </p:cNvPr>
          <p:cNvSpPr/>
          <p:nvPr/>
        </p:nvSpPr>
        <p:spPr>
          <a:xfrm>
            <a:off x="3718560" y="2611120"/>
            <a:ext cx="680720" cy="599440"/>
          </a:xfrm>
          <a:prstGeom prst="cloud">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loud 9">
            <a:extLst>
              <a:ext uri="{FF2B5EF4-FFF2-40B4-BE49-F238E27FC236}">
                <a16:creationId xmlns:a16="http://schemas.microsoft.com/office/drawing/2014/main" id="{D48EA8E6-673D-3059-3E56-E1B1C5D0B3C6}"/>
              </a:ext>
            </a:extLst>
          </p:cNvPr>
          <p:cNvSpPr/>
          <p:nvPr/>
        </p:nvSpPr>
        <p:spPr>
          <a:xfrm>
            <a:off x="1971040" y="2418080"/>
            <a:ext cx="680720" cy="59944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loud 10">
            <a:extLst>
              <a:ext uri="{FF2B5EF4-FFF2-40B4-BE49-F238E27FC236}">
                <a16:creationId xmlns:a16="http://schemas.microsoft.com/office/drawing/2014/main" id="{868D8DB7-C449-55B4-C2E4-916EEFD507F2}"/>
              </a:ext>
            </a:extLst>
          </p:cNvPr>
          <p:cNvSpPr/>
          <p:nvPr/>
        </p:nvSpPr>
        <p:spPr>
          <a:xfrm>
            <a:off x="2042160" y="1574800"/>
            <a:ext cx="680720" cy="599440"/>
          </a:xfrm>
          <a:prstGeom prst="cloud">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Cloud 11">
            <a:extLst>
              <a:ext uri="{FF2B5EF4-FFF2-40B4-BE49-F238E27FC236}">
                <a16:creationId xmlns:a16="http://schemas.microsoft.com/office/drawing/2014/main" id="{395CA7E4-156C-08D3-E7C1-89F804A0DDB2}"/>
              </a:ext>
            </a:extLst>
          </p:cNvPr>
          <p:cNvSpPr/>
          <p:nvPr/>
        </p:nvSpPr>
        <p:spPr>
          <a:xfrm>
            <a:off x="4856480" y="1351280"/>
            <a:ext cx="680720" cy="59944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loud 12">
            <a:extLst>
              <a:ext uri="{FF2B5EF4-FFF2-40B4-BE49-F238E27FC236}">
                <a16:creationId xmlns:a16="http://schemas.microsoft.com/office/drawing/2014/main" id="{FEF9BF03-55A9-EFD5-944E-5273FE04016E}"/>
              </a:ext>
            </a:extLst>
          </p:cNvPr>
          <p:cNvSpPr/>
          <p:nvPr/>
        </p:nvSpPr>
        <p:spPr>
          <a:xfrm>
            <a:off x="4785360" y="2174240"/>
            <a:ext cx="680720" cy="599440"/>
          </a:xfrm>
          <a:prstGeom prst="cloud">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loud 13">
            <a:extLst>
              <a:ext uri="{FF2B5EF4-FFF2-40B4-BE49-F238E27FC236}">
                <a16:creationId xmlns:a16="http://schemas.microsoft.com/office/drawing/2014/main" id="{AD7CBC3C-A12D-1D0C-8B88-AF1388E0F8EF}"/>
              </a:ext>
            </a:extLst>
          </p:cNvPr>
          <p:cNvSpPr/>
          <p:nvPr/>
        </p:nvSpPr>
        <p:spPr>
          <a:xfrm>
            <a:off x="5582920" y="1859280"/>
            <a:ext cx="680720" cy="59944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Cloud 14">
            <a:extLst>
              <a:ext uri="{FF2B5EF4-FFF2-40B4-BE49-F238E27FC236}">
                <a16:creationId xmlns:a16="http://schemas.microsoft.com/office/drawing/2014/main" id="{3211B24C-D3F9-B1EB-29DC-6D5038C83671}"/>
              </a:ext>
            </a:extLst>
          </p:cNvPr>
          <p:cNvSpPr/>
          <p:nvPr/>
        </p:nvSpPr>
        <p:spPr>
          <a:xfrm>
            <a:off x="5486400" y="2722880"/>
            <a:ext cx="680720" cy="59944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loud 15">
            <a:extLst>
              <a:ext uri="{FF2B5EF4-FFF2-40B4-BE49-F238E27FC236}">
                <a16:creationId xmlns:a16="http://schemas.microsoft.com/office/drawing/2014/main" id="{00CA1658-54A2-BADF-FC25-3CDCF845DB86}"/>
              </a:ext>
            </a:extLst>
          </p:cNvPr>
          <p:cNvSpPr/>
          <p:nvPr/>
        </p:nvSpPr>
        <p:spPr>
          <a:xfrm>
            <a:off x="6283960" y="2311400"/>
            <a:ext cx="680720" cy="599440"/>
          </a:xfrm>
          <a:prstGeom prst="cloud">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Cloud 16">
            <a:extLst>
              <a:ext uri="{FF2B5EF4-FFF2-40B4-BE49-F238E27FC236}">
                <a16:creationId xmlns:a16="http://schemas.microsoft.com/office/drawing/2014/main" id="{52A49BAC-4A46-476C-FF39-E3CAE775C3D6}"/>
              </a:ext>
            </a:extLst>
          </p:cNvPr>
          <p:cNvSpPr/>
          <p:nvPr/>
        </p:nvSpPr>
        <p:spPr>
          <a:xfrm>
            <a:off x="6309360" y="1259840"/>
            <a:ext cx="680720" cy="599440"/>
          </a:xfrm>
          <a:prstGeom prst="cloud">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B8183116-6A85-36AF-333F-E261CD281985}"/>
              </a:ext>
            </a:extLst>
          </p:cNvPr>
          <p:cNvSpPr/>
          <p:nvPr/>
        </p:nvSpPr>
        <p:spPr>
          <a:xfrm>
            <a:off x="1803400" y="822960"/>
            <a:ext cx="2865120" cy="2606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19DDFB1B-76BF-CD2D-4CDE-1B1D64DB40CC}"/>
              </a:ext>
            </a:extLst>
          </p:cNvPr>
          <p:cNvSpPr/>
          <p:nvPr/>
        </p:nvSpPr>
        <p:spPr>
          <a:xfrm>
            <a:off x="4658362" y="822960"/>
            <a:ext cx="2865120" cy="2606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Cloud 19">
            <a:extLst>
              <a:ext uri="{FF2B5EF4-FFF2-40B4-BE49-F238E27FC236}">
                <a16:creationId xmlns:a16="http://schemas.microsoft.com/office/drawing/2014/main" id="{C04E878B-E1A1-59D4-6EB2-E89E5667D794}"/>
              </a:ext>
            </a:extLst>
          </p:cNvPr>
          <p:cNvSpPr/>
          <p:nvPr/>
        </p:nvSpPr>
        <p:spPr>
          <a:xfrm>
            <a:off x="2941320" y="4803140"/>
            <a:ext cx="680720" cy="59944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Cloud 20">
            <a:extLst>
              <a:ext uri="{FF2B5EF4-FFF2-40B4-BE49-F238E27FC236}">
                <a16:creationId xmlns:a16="http://schemas.microsoft.com/office/drawing/2014/main" id="{7161D829-D805-D922-49C5-FDA6BC1158E9}"/>
              </a:ext>
            </a:extLst>
          </p:cNvPr>
          <p:cNvSpPr/>
          <p:nvPr/>
        </p:nvSpPr>
        <p:spPr>
          <a:xfrm>
            <a:off x="3815080" y="4503420"/>
            <a:ext cx="680720" cy="599440"/>
          </a:xfrm>
          <a:prstGeom prst="cloud">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Cloud 21">
            <a:extLst>
              <a:ext uri="{FF2B5EF4-FFF2-40B4-BE49-F238E27FC236}">
                <a16:creationId xmlns:a16="http://schemas.microsoft.com/office/drawing/2014/main" id="{E764AE76-0D10-B1E3-1DF5-1E9D80A7E352}"/>
              </a:ext>
            </a:extLst>
          </p:cNvPr>
          <p:cNvSpPr/>
          <p:nvPr/>
        </p:nvSpPr>
        <p:spPr>
          <a:xfrm>
            <a:off x="2799080" y="5519420"/>
            <a:ext cx="680720" cy="599440"/>
          </a:xfrm>
          <a:prstGeom prst="cloud">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Cloud 22">
            <a:extLst>
              <a:ext uri="{FF2B5EF4-FFF2-40B4-BE49-F238E27FC236}">
                <a16:creationId xmlns:a16="http://schemas.microsoft.com/office/drawing/2014/main" id="{586A973D-266A-677E-A97D-95040B730600}"/>
              </a:ext>
            </a:extLst>
          </p:cNvPr>
          <p:cNvSpPr/>
          <p:nvPr/>
        </p:nvSpPr>
        <p:spPr>
          <a:xfrm>
            <a:off x="2941320" y="4066540"/>
            <a:ext cx="680720" cy="599440"/>
          </a:xfrm>
          <a:prstGeom prst="cloud">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Cloud 23">
            <a:extLst>
              <a:ext uri="{FF2B5EF4-FFF2-40B4-BE49-F238E27FC236}">
                <a16:creationId xmlns:a16="http://schemas.microsoft.com/office/drawing/2014/main" id="{3AEB10F9-4B2E-B64F-3E95-9C45851519C2}"/>
              </a:ext>
            </a:extLst>
          </p:cNvPr>
          <p:cNvSpPr/>
          <p:nvPr/>
        </p:nvSpPr>
        <p:spPr>
          <a:xfrm>
            <a:off x="3743960" y="5402580"/>
            <a:ext cx="680720" cy="599440"/>
          </a:xfrm>
          <a:prstGeom prst="cloud">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Cloud 24">
            <a:extLst>
              <a:ext uri="{FF2B5EF4-FFF2-40B4-BE49-F238E27FC236}">
                <a16:creationId xmlns:a16="http://schemas.microsoft.com/office/drawing/2014/main" id="{EE86FCCC-1592-D4E5-3661-8D80AC623E36}"/>
              </a:ext>
            </a:extLst>
          </p:cNvPr>
          <p:cNvSpPr/>
          <p:nvPr/>
        </p:nvSpPr>
        <p:spPr>
          <a:xfrm>
            <a:off x="1996440" y="5209540"/>
            <a:ext cx="680720" cy="59944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Cloud 25">
            <a:extLst>
              <a:ext uri="{FF2B5EF4-FFF2-40B4-BE49-F238E27FC236}">
                <a16:creationId xmlns:a16="http://schemas.microsoft.com/office/drawing/2014/main" id="{5B6F61FD-0F98-7EAB-0363-CFE994E62853}"/>
              </a:ext>
            </a:extLst>
          </p:cNvPr>
          <p:cNvSpPr/>
          <p:nvPr/>
        </p:nvSpPr>
        <p:spPr>
          <a:xfrm>
            <a:off x="2067560" y="4366260"/>
            <a:ext cx="680720" cy="599440"/>
          </a:xfrm>
          <a:prstGeom prst="cloud">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Cloud 26">
            <a:extLst>
              <a:ext uri="{FF2B5EF4-FFF2-40B4-BE49-F238E27FC236}">
                <a16:creationId xmlns:a16="http://schemas.microsoft.com/office/drawing/2014/main" id="{C80CFFE2-8324-FB86-2578-5C882217D19E}"/>
              </a:ext>
            </a:extLst>
          </p:cNvPr>
          <p:cNvSpPr/>
          <p:nvPr/>
        </p:nvSpPr>
        <p:spPr>
          <a:xfrm>
            <a:off x="4881880" y="4142740"/>
            <a:ext cx="680720" cy="599440"/>
          </a:xfrm>
          <a:prstGeom prst="cloud">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Cloud 27">
            <a:extLst>
              <a:ext uri="{FF2B5EF4-FFF2-40B4-BE49-F238E27FC236}">
                <a16:creationId xmlns:a16="http://schemas.microsoft.com/office/drawing/2014/main" id="{8B9D1498-1A84-1179-897A-A09312DF1B8B}"/>
              </a:ext>
            </a:extLst>
          </p:cNvPr>
          <p:cNvSpPr/>
          <p:nvPr/>
        </p:nvSpPr>
        <p:spPr>
          <a:xfrm>
            <a:off x="4810760" y="4965700"/>
            <a:ext cx="680720" cy="599440"/>
          </a:xfrm>
          <a:prstGeom prst="cloud">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Cloud 28">
            <a:extLst>
              <a:ext uri="{FF2B5EF4-FFF2-40B4-BE49-F238E27FC236}">
                <a16:creationId xmlns:a16="http://schemas.microsoft.com/office/drawing/2014/main" id="{CD68FB95-6386-2BF4-638E-1BD30AE3BF7F}"/>
              </a:ext>
            </a:extLst>
          </p:cNvPr>
          <p:cNvSpPr/>
          <p:nvPr/>
        </p:nvSpPr>
        <p:spPr>
          <a:xfrm>
            <a:off x="5608320" y="4650740"/>
            <a:ext cx="680720" cy="59944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Cloud 29">
            <a:extLst>
              <a:ext uri="{FF2B5EF4-FFF2-40B4-BE49-F238E27FC236}">
                <a16:creationId xmlns:a16="http://schemas.microsoft.com/office/drawing/2014/main" id="{1D720DD3-911A-37BB-15CF-040E4F26B10C}"/>
              </a:ext>
            </a:extLst>
          </p:cNvPr>
          <p:cNvSpPr/>
          <p:nvPr/>
        </p:nvSpPr>
        <p:spPr>
          <a:xfrm>
            <a:off x="5511800" y="5514340"/>
            <a:ext cx="680720" cy="599440"/>
          </a:xfrm>
          <a:prstGeom prst="cloud">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Cloud 30">
            <a:extLst>
              <a:ext uri="{FF2B5EF4-FFF2-40B4-BE49-F238E27FC236}">
                <a16:creationId xmlns:a16="http://schemas.microsoft.com/office/drawing/2014/main" id="{AAE51ED2-620E-8F0D-4320-9B1A1469879B}"/>
              </a:ext>
            </a:extLst>
          </p:cNvPr>
          <p:cNvSpPr/>
          <p:nvPr/>
        </p:nvSpPr>
        <p:spPr>
          <a:xfrm>
            <a:off x="6309360" y="5102860"/>
            <a:ext cx="680720" cy="599440"/>
          </a:xfrm>
          <a:prstGeom prst="cloud">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Cloud 31">
            <a:extLst>
              <a:ext uri="{FF2B5EF4-FFF2-40B4-BE49-F238E27FC236}">
                <a16:creationId xmlns:a16="http://schemas.microsoft.com/office/drawing/2014/main" id="{330C9A54-D194-59C0-F921-7CF696B02BB5}"/>
              </a:ext>
            </a:extLst>
          </p:cNvPr>
          <p:cNvSpPr/>
          <p:nvPr/>
        </p:nvSpPr>
        <p:spPr>
          <a:xfrm>
            <a:off x="6334760" y="4051300"/>
            <a:ext cx="680720" cy="599440"/>
          </a:xfrm>
          <a:prstGeom prst="cloud">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370A4E7F-A547-9D25-6D1C-1C2BC1A71D31}"/>
              </a:ext>
            </a:extLst>
          </p:cNvPr>
          <p:cNvSpPr/>
          <p:nvPr/>
        </p:nvSpPr>
        <p:spPr>
          <a:xfrm>
            <a:off x="1828800" y="3614420"/>
            <a:ext cx="2865120" cy="2606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CD067910-4D0F-AA53-1864-C3BFDB4F1C7F}"/>
              </a:ext>
            </a:extLst>
          </p:cNvPr>
          <p:cNvSpPr/>
          <p:nvPr/>
        </p:nvSpPr>
        <p:spPr>
          <a:xfrm>
            <a:off x="4683762" y="3614420"/>
            <a:ext cx="2865120" cy="2606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65842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21D7F-8334-9566-2B47-75B1E9EB34DB}"/>
              </a:ext>
            </a:extLst>
          </p:cNvPr>
          <p:cNvSpPr>
            <a:spLocks noGrp="1"/>
          </p:cNvSpPr>
          <p:nvPr>
            <p:ph type="title"/>
          </p:nvPr>
        </p:nvSpPr>
        <p:spPr/>
        <p:txBody>
          <a:bodyPr/>
          <a:lstStyle/>
          <a:p>
            <a:r>
              <a:rPr lang="fr-FR" dirty="0"/>
              <a:t>Exemple </a:t>
            </a:r>
            <a:r>
              <a:rPr lang="en-GB" dirty="0"/>
              <a:t> 7</a:t>
            </a:r>
          </a:p>
        </p:txBody>
      </p:sp>
      <p:sp>
        <p:nvSpPr>
          <p:cNvPr id="3" name="Content Placeholder 2">
            <a:extLst>
              <a:ext uri="{FF2B5EF4-FFF2-40B4-BE49-F238E27FC236}">
                <a16:creationId xmlns:a16="http://schemas.microsoft.com/office/drawing/2014/main" id="{2DAE3236-305E-4B9D-94A0-BC7890A142C9}"/>
              </a:ext>
            </a:extLst>
          </p:cNvPr>
          <p:cNvSpPr>
            <a:spLocks noGrp="1"/>
          </p:cNvSpPr>
          <p:nvPr>
            <p:ph idx="1"/>
          </p:nvPr>
        </p:nvSpPr>
        <p:spPr/>
        <p:txBody>
          <a:bodyPr>
            <a:normAutofit/>
          </a:bodyPr>
          <a:lstStyle/>
          <a:p>
            <a:pPr marL="0" indent="0">
              <a:buNone/>
            </a:pPr>
            <a:r>
              <a:rPr lang="fr-FR" sz="2400" dirty="0"/>
              <a:t>Vous souhaitez mesurer la concentration de nitrates dans l'eau d'un cours d'eau à proximité d'une plantation de palmiers à huile, en saison sèche et en saison des pluies, et déterminer si les concentrations de nitrates sont plus élevées en saison des pluies en raison du ruissellement. En saison sèche, vous utilisez un capteur d'une précision de ±5 %. En saison des pluies, vous utilisez un capteur d'une précision de ±10 %.</a:t>
            </a:r>
            <a:endParaRPr lang="en-GB" sz="2400" baseline="30000" dirty="0"/>
          </a:p>
          <a:p>
            <a:pPr lvl="1"/>
            <a:endParaRPr lang="en-GB" baseline="30000" dirty="0"/>
          </a:p>
          <a:p>
            <a:pPr lvl="1"/>
            <a:endParaRPr lang="en-GB" dirty="0"/>
          </a:p>
          <a:p>
            <a:pPr lvl="1"/>
            <a:endParaRPr lang="en-GB" dirty="0"/>
          </a:p>
        </p:txBody>
      </p:sp>
      <p:sp>
        <p:nvSpPr>
          <p:cNvPr id="9" name="TextBox 8">
            <a:extLst>
              <a:ext uri="{FF2B5EF4-FFF2-40B4-BE49-F238E27FC236}">
                <a16:creationId xmlns:a16="http://schemas.microsoft.com/office/drawing/2014/main" id="{1300A152-E15E-B21C-B6A7-D29129EB2B42}"/>
              </a:ext>
            </a:extLst>
          </p:cNvPr>
          <p:cNvSpPr txBox="1"/>
          <p:nvPr/>
        </p:nvSpPr>
        <p:spPr>
          <a:xfrm>
            <a:off x="551180" y="4443829"/>
            <a:ext cx="11089640" cy="830997"/>
          </a:xfrm>
          <a:prstGeom prst="rect">
            <a:avLst/>
          </a:prstGeom>
          <a:noFill/>
        </p:spPr>
        <p:txBody>
          <a:bodyPr wrap="square" rtlCol="0">
            <a:spAutoFit/>
          </a:bodyPr>
          <a:lstStyle/>
          <a:p>
            <a:pPr lvl="1"/>
            <a:r>
              <a:rPr lang="en-GB" sz="2400" dirty="0"/>
              <a:t>Saison </a:t>
            </a:r>
            <a:r>
              <a:rPr lang="en-GB" sz="2400" dirty="0" err="1"/>
              <a:t>sèche</a:t>
            </a:r>
            <a:r>
              <a:rPr lang="en-GB" sz="2400" dirty="0"/>
              <a:t> (</a:t>
            </a:r>
            <a:r>
              <a:rPr lang="en-GB" sz="2400" dirty="0" err="1"/>
              <a:t>moyenne</a:t>
            </a:r>
            <a:r>
              <a:rPr lang="en-GB" sz="2400" dirty="0"/>
              <a:t> ± </a:t>
            </a:r>
            <a:r>
              <a:rPr lang="en-GB" sz="2400" dirty="0" err="1"/>
              <a:t>écart</a:t>
            </a:r>
            <a:r>
              <a:rPr lang="en-GB" sz="2400" dirty="0"/>
              <a:t>-type) : 6.20±0.30 mg L</a:t>
            </a:r>
            <a:r>
              <a:rPr lang="en-GB" sz="2400" baseline="30000" dirty="0"/>
              <a:t>-1 </a:t>
            </a:r>
            <a:r>
              <a:rPr lang="en-GB" sz="2400" dirty="0"/>
              <a:t>(</a:t>
            </a:r>
            <a:r>
              <a:rPr lang="en-GB" sz="2400" b="1" dirty="0"/>
              <a:t>5.90-6.50 mg L</a:t>
            </a:r>
            <a:r>
              <a:rPr lang="en-GB" sz="2400" b="1" baseline="30000" dirty="0"/>
              <a:t>-1</a:t>
            </a:r>
            <a:r>
              <a:rPr lang="en-GB" sz="2400" dirty="0"/>
              <a:t>)</a:t>
            </a:r>
          </a:p>
          <a:p>
            <a:pPr lvl="1"/>
            <a:r>
              <a:rPr lang="fr-FR" sz="2400" dirty="0"/>
              <a:t>Saison des pluies (moyenne ± écart-type) : </a:t>
            </a:r>
            <a:r>
              <a:rPr lang="en-GB" sz="2400" dirty="0"/>
              <a:t>7.00±0.40 mg L</a:t>
            </a:r>
            <a:r>
              <a:rPr lang="en-GB" sz="2400" baseline="30000" dirty="0"/>
              <a:t>-1 </a:t>
            </a:r>
            <a:r>
              <a:rPr lang="en-GB" sz="2400" dirty="0"/>
              <a:t>(</a:t>
            </a:r>
            <a:r>
              <a:rPr lang="en-GB" sz="2400" b="1" dirty="0"/>
              <a:t>6.60-7.40 mg L</a:t>
            </a:r>
            <a:r>
              <a:rPr lang="en-GB" sz="2400" b="1" baseline="30000" dirty="0"/>
              <a:t>-1</a:t>
            </a:r>
            <a:r>
              <a:rPr lang="en-GB" sz="2400" dirty="0"/>
              <a:t>)</a:t>
            </a:r>
          </a:p>
        </p:txBody>
      </p:sp>
    </p:spTree>
    <p:extLst>
      <p:ext uri="{BB962C8B-B14F-4D97-AF65-F5344CB8AC3E}">
        <p14:creationId xmlns:p14="http://schemas.microsoft.com/office/powerpoint/2010/main" val="502544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A790D-C8C6-4EAC-2670-220DBF701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21A84-552F-55FF-98D3-5A7E04A0E3EE}"/>
              </a:ext>
            </a:extLst>
          </p:cNvPr>
          <p:cNvSpPr>
            <a:spLocks noGrp="1"/>
          </p:cNvSpPr>
          <p:nvPr>
            <p:ph type="title"/>
          </p:nvPr>
        </p:nvSpPr>
        <p:spPr/>
        <p:txBody>
          <a:bodyPr/>
          <a:lstStyle/>
          <a:p>
            <a:r>
              <a:rPr lang="fr-FR" dirty="0"/>
              <a:t>Exemple </a:t>
            </a:r>
            <a:r>
              <a:rPr lang="en-GB" dirty="0"/>
              <a:t> 7</a:t>
            </a:r>
          </a:p>
        </p:txBody>
      </p:sp>
      <p:sp>
        <p:nvSpPr>
          <p:cNvPr id="3" name="Content Placeholder 2">
            <a:extLst>
              <a:ext uri="{FF2B5EF4-FFF2-40B4-BE49-F238E27FC236}">
                <a16:creationId xmlns:a16="http://schemas.microsoft.com/office/drawing/2014/main" id="{E63D3CA6-2986-5C07-731F-581D1D170D04}"/>
              </a:ext>
            </a:extLst>
          </p:cNvPr>
          <p:cNvSpPr>
            <a:spLocks noGrp="1"/>
          </p:cNvSpPr>
          <p:nvPr>
            <p:ph idx="1"/>
          </p:nvPr>
        </p:nvSpPr>
        <p:spPr/>
        <p:txBody>
          <a:bodyPr>
            <a:normAutofit/>
          </a:bodyPr>
          <a:lstStyle/>
          <a:p>
            <a:pPr marL="0" indent="0">
              <a:buNone/>
            </a:pPr>
            <a:r>
              <a:rPr lang="fr-FR" sz="2400" dirty="0"/>
              <a:t>Vous souhaitez mesurer la concentration de nitrates dans l'eau d'un cours d'eau à proximité d'une plantation de palmiers à huile, en saison sèche et en saison des pluies, et déterminer si les concentrations de nitrates sont plus élevées en saison des pluies en raison du ruissellement. En saison sèche, vous utilisez un capteur d'une précision de ±5 %. En saison des pluies, vous utilisez un capteur d'une précision de ±10 %.</a:t>
            </a:r>
            <a:endParaRPr lang="en-GB" sz="2400" baseline="30000" dirty="0"/>
          </a:p>
          <a:p>
            <a:pPr lvl="1"/>
            <a:endParaRPr lang="en-GB" baseline="30000" dirty="0"/>
          </a:p>
          <a:p>
            <a:pPr lvl="1"/>
            <a:endParaRPr lang="en-GB" baseline="30000" dirty="0"/>
          </a:p>
          <a:p>
            <a:pPr lvl="1"/>
            <a:endParaRPr lang="en-GB" dirty="0"/>
          </a:p>
          <a:p>
            <a:pPr lvl="1"/>
            <a:endParaRPr lang="en-GB" dirty="0"/>
          </a:p>
        </p:txBody>
      </p:sp>
      <p:sp>
        <p:nvSpPr>
          <p:cNvPr id="4" name="TextBox 3">
            <a:extLst>
              <a:ext uri="{FF2B5EF4-FFF2-40B4-BE49-F238E27FC236}">
                <a16:creationId xmlns:a16="http://schemas.microsoft.com/office/drawing/2014/main" id="{FB4603BE-2CC7-B146-A6FC-29DE93E0A90E}"/>
              </a:ext>
            </a:extLst>
          </p:cNvPr>
          <p:cNvSpPr txBox="1"/>
          <p:nvPr/>
        </p:nvSpPr>
        <p:spPr>
          <a:xfrm>
            <a:off x="706120" y="4393029"/>
            <a:ext cx="10779760" cy="3046988"/>
          </a:xfrm>
          <a:prstGeom prst="rect">
            <a:avLst/>
          </a:prstGeom>
          <a:noFill/>
        </p:spPr>
        <p:txBody>
          <a:bodyPr wrap="square" rtlCol="0">
            <a:spAutoFit/>
          </a:bodyPr>
          <a:lstStyle/>
          <a:p>
            <a:pPr lvl="1"/>
            <a:r>
              <a:rPr lang="en-GB" sz="2400" dirty="0"/>
              <a:t>Saison </a:t>
            </a:r>
            <a:r>
              <a:rPr lang="en-GB" sz="2400" dirty="0" err="1"/>
              <a:t>sèche</a:t>
            </a:r>
            <a:r>
              <a:rPr lang="en-GB" sz="2400" dirty="0"/>
              <a:t> (</a:t>
            </a:r>
            <a:r>
              <a:rPr lang="en-GB" sz="2400" dirty="0" err="1"/>
              <a:t>moyenne</a:t>
            </a:r>
            <a:r>
              <a:rPr lang="en-GB" sz="2400" dirty="0"/>
              <a:t> ± </a:t>
            </a:r>
            <a:r>
              <a:rPr lang="en-GB" sz="2400" dirty="0" err="1"/>
              <a:t>écart</a:t>
            </a:r>
            <a:r>
              <a:rPr lang="en-GB" sz="2400" dirty="0"/>
              <a:t>-type) : 6.20±0.30 mg L</a:t>
            </a:r>
            <a:r>
              <a:rPr lang="en-GB" sz="2400" baseline="30000" dirty="0"/>
              <a:t>-1 </a:t>
            </a:r>
            <a:r>
              <a:rPr lang="en-GB" sz="2400" dirty="0"/>
              <a:t>(</a:t>
            </a:r>
            <a:r>
              <a:rPr lang="en-GB" sz="2400" b="1" dirty="0"/>
              <a:t>5.90-6.50 mg L</a:t>
            </a:r>
            <a:r>
              <a:rPr lang="en-GB" sz="2400" b="1" baseline="30000" dirty="0"/>
              <a:t>-1</a:t>
            </a:r>
            <a:r>
              <a:rPr lang="en-GB" sz="2400" dirty="0"/>
              <a:t>)</a:t>
            </a:r>
          </a:p>
          <a:p>
            <a:pPr lvl="1"/>
            <a:r>
              <a:rPr lang="fr-FR" sz="2400" dirty="0"/>
              <a:t>Saison des pluies (moyenne ± écart-type) : </a:t>
            </a:r>
            <a:r>
              <a:rPr lang="en-GB" sz="2400" dirty="0"/>
              <a:t>7.00±0.40 mg L</a:t>
            </a:r>
            <a:r>
              <a:rPr lang="en-GB" sz="2400" baseline="30000" dirty="0"/>
              <a:t>-1 </a:t>
            </a:r>
            <a:r>
              <a:rPr lang="en-GB" sz="2400" dirty="0"/>
              <a:t>(</a:t>
            </a:r>
            <a:r>
              <a:rPr lang="en-GB" sz="2400" b="1" dirty="0"/>
              <a:t>6.60-7.40 mg L</a:t>
            </a:r>
            <a:r>
              <a:rPr lang="en-GB" sz="2400" b="1" baseline="30000" dirty="0"/>
              <a:t>-1</a:t>
            </a:r>
            <a:r>
              <a:rPr lang="en-GB" sz="2400" dirty="0"/>
              <a:t>)</a:t>
            </a:r>
          </a:p>
          <a:p>
            <a:pPr lvl="1"/>
            <a:endParaRPr lang="en-GB" sz="2400" dirty="0"/>
          </a:p>
          <a:p>
            <a:pPr lvl="1"/>
            <a:r>
              <a:rPr lang="en-GB" sz="2400" dirty="0"/>
              <a:t>Saison </a:t>
            </a:r>
            <a:r>
              <a:rPr lang="en-GB" sz="2400" dirty="0" err="1"/>
              <a:t>sèche</a:t>
            </a:r>
            <a:r>
              <a:rPr lang="en-GB" sz="2400" dirty="0"/>
              <a:t> : 6.20±0.40 mg L</a:t>
            </a:r>
            <a:r>
              <a:rPr lang="en-GB" sz="2400" baseline="30000" dirty="0"/>
              <a:t>-1 </a:t>
            </a:r>
            <a:r>
              <a:rPr lang="en-GB" sz="2400" dirty="0"/>
              <a:t>(</a:t>
            </a:r>
            <a:r>
              <a:rPr lang="en-GB" sz="2400" b="1" dirty="0"/>
              <a:t>5.80-6.60 mg L</a:t>
            </a:r>
            <a:r>
              <a:rPr lang="en-GB" sz="2400" b="1" baseline="30000" dirty="0"/>
              <a:t>-1</a:t>
            </a:r>
            <a:r>
              <a:rPr lang="en-GB" sz="2400" dirty="0"/>
              <a:t>)</a:t>
            </a:r>
          </a:p>
          <a:p>
            <a:pPr lvl="1"/>
            <a:r>
              <a:rPr lang="fr-FR" sz="2400" dirty="0"/>
              <a:t>Saison des pluies : </a:t>
            </a:r>
            <a:r>
              <a:rPr lang="en-GB" sz="2400" dirty="0"/>
              <a:t>7.00±0.84 mg L</a:t>
            </a:r>
            <a:r>
              <a:rPr lang="en-GB" sz="2400" baseline="30000" dirty="0"/>
              <a:t>-1 </a:t>
            </a:r>
            <a:r>
              <a:rPr lang="en-GB" sz="2400" dirty="0"/>
              <a:t>(</a:t>
            </a:r>
            <a:r>
              <a:rPr lang="en-GB" sz="2400" b="1" dirty="0"/>
              <a:t>6.16-7.84 mg L</a:t>
            </a:r>
            <a:r>
              <a:rPr lang="en-GB" sz="2400" b="1" baseline="30000" dirty="0"/>
              <a:t>-1</a:t>
            </a:r>
            <a:r>
              <a:rPr lang="en-GB" sz="2400" dirty="0"/>
              <a:t>)</a:t>
            </a:r>
          </a:p>
          <a:p>
            <a:pPr lvl="1"/>
            <a:endParaRPr lang="en-GB" sz="2400" dirty="0"/>
          </a:p>
          <a:p>
            <a:pPr lvl="1"/>
            <a:endParaRPr lang="en-GB" sz="2400" dirty="0"/>
          </a:p>
          <a:p>
            <a:pPr lvl="1"/>
            <a:endParaRPr lang="en-GB" sz="2400" dirty="0"/>
          </a:p>
        </p:txBody>
      </p:sp>
    </p:spTree>
    <p:extLst>
      <p:ext uri="{BB962C8B-B14F-4D97-AF65-F5344CB8AC3E}">
        <p14:creationId xmlns:p14="http://schemas.microsoft.com/office/powerpoint/2010/main" val="2399638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5B377-4530-7E02-4708-DC819466E5B2}"/>
              </a:ext>
            </a:extLst>
          </p:cNvPr>
          <p:cNvSpPr>
            <a:spLocks noGrp="1"/>
          </p:cNvSpPr>
          <p:nvPr>
            <p:ph type="title"/>
          </p:nvPr>
        </p:nvSpPr>
        <p:spPr/>
        <p:txBody>
          <a:bodyPr/>
          <a:lstStyle/>
          <a:p>
            <a:r>
              <a:rPr lang="fr-FR" dirty="0"/>
              <a:t>Conséquences possibles de la non-standardisation des données</a:t>
            </a:r>
            <a:endParaRPr lang="en-GB" dirty="0"/>
          </a:p>
        </p:txBody>
      </p:sp>
      <p:sp>
        <p:nvSpPr>
          <p:cNvPr id="3" name="Content Placeholder 2">
            <a:extLst>
              <a:ext uri="{FF2B5EF4-FFF2-40B4-BE49-F238E27FC236}">
                <a16:creationId xmlns:a16="http://schemas.microsoft.com/office/drawing/2014/main" id="{A95DF856-AB34-9E18-68DA-9B2DD5C1C416}"/>
              </a:ext>
            </a:extLst>
          </p:cNvPr>
          <p:cNvSpPr>
            <a:spLocks noGrp="1"/>
          </p:cNvSpPr>
          <p:nvPr>
            <p:ph idx="1"/>
          </p:nvPr>
        </p:nvSpPr>
        <p:spPr/>
        <p:txBody>
          <a:bodyPr/>
          <a:lstStyle/>
          <a:p>
            <a:r>
              <a:rPr lang="fr-FR" dirty="0"/>
              <a:t>Perte de temps liée au reformatage des données</a:t>
            </a:r>
          </a:p>
          <a:p>
            <a:r>
              <a:rPr lang="fr-FR" dirty="0"/>
              <a:t>Augmentation du risque d'erreurs</a:t>
            </a:r>
          </a:p>
          <a:p>
            <a:r>
              <a:rPr lang="fr-FR" dirty="0"/>
              <a:t>Perte d'informations/de précision</a:t>
            </a:r>
          </a:p>
          <a:p>
            <a:r>
              <a:rPr lang="fr-FR" dirty="0"/>
              <a:t>Complexification des analyses</a:t>
            </a:r>
          </a:p>
          <a:p>
            <a:r>
              <a:rPr lang="fr-FR" dirty="0"/>
              <a:t>Comparaisons difficiles</a:t>
            </a:r>
            <a:endParaRPr lang="en-GB" dirty="0"/>
          </a:p>
          <a:p>
            <a:endParaRPr lang="en-GB" dirty="0"/>
          </a:p>
        </p:txBody>
      </p:sp>
    </p:spTree>
    <p:extLst>
      <p:ext uri="{BB962C8B-B14F-4D97-AF65-F5344CB8AC3E}">
        <p14:creationId xmlns:p14="http://schemas.microsoft.com/office/powerpoint/2010/main" val="1360852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2532AA-2F9B-7D47-605B-93CA3700BD9D}"/>
              </a:ext>
            </a:extLst>
          </p:cNvPr>
          <p:cNvSpPr>
            <a:spLocks noGrp="1"/>
          </p:cNvSpPr>
          <p:nvPr>
            <p:ph idx="1"/>
          </p:nvPr>
        </p:nvSpPr>
        <p:spPr>
          <a:xfrm>
            <a:off x="838200" y="829945"/>
            <a:ext cx="10515600" cy="4351338"/>
          </a:xfrm>
        </p:spPr>
        <p:txBody>
          <a:bodyPr/>
          <a:lstStyle/>
          <a:p>
            <a:pPr marL="0" indent="0">
              <a:buNone/>
            </a:pPr>
            <a:r>
              <a:rPr lang="fr-FR" dirty="0"/>
              <a:t>Il arrive que la normalisation des données soit impossible. </a:t>
            </a:r>
          </a:p>
          <a:p>
            <a:pPr marL="0" indent="0">
              <a:buNone/>
            </a:pPr>
            <a:r>
              <a:rPr lang="fr-FR" dirty="0"/>
              <a:t>	Problèmes rencontrés</a:t>
            </a:r>
          </a:p>
          <a:p>
            <a:pPr marL="0" indent="0">
              <a:buNone/>
            </a:pPr>
            <a:r>
              <a:rPr lang="fr-FR" dirty="0"/>
              <a:t>	Pannes de matériel</a:t>
            </a:r>
          </a:p>
          <a:p>
            <a:pPr marL="0" indent="0">
              <a:buNone/>
            </a:pPr>
            <a:r>
              <a:rPr lang="fr-FR" dirty="0"/>
              <a:t>	Innovations – matériel ou idées</a:t>
            </a:r>
          </a:p>
          <a:p>
            <a:pPr marL="0" indent="0">
              <a:buNone/>
            </a:pPr>
            <a:r>
              <a:rPr lang="fr-FR" dirty="0"/>
              <a:t>	</a:t>
            </a:r>
          </a:p>
          <a:p>
            <a:pPr marL="0" indent="0">
              <a:buNone/>
            </a:pPr>
            <a:r>
              <a:rPr lang="fr-FR" dirty="0"/>
              <a:t>Tenez compte des conséquences de données non standardisées, de ce que cela implique pour vos analyses, de la manière dont vous pouvez utiliser vos données et de leur utilité.</a:t>
            </a:r>
            <a:endParaRPr lang="en-GB" dirty="0"/>
          </a:p>
        </p:txBody>
      </p:sp>
    </p:spTree>
    <p:extLst>
      <p:ext uri="{BB962C8B-B14F-4D97-AF65-F5344CB8AC3E}">
        <p14:creationId xmlns:p14="http://schemas.microsoft.com/office/powerpoint/2010/main" val="831705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975</Words>
  <Application>Microsoft Office PowerPoint</Application>
  <PresentationFormat>Widescreen</PresentationFormat>
  <Paragraphs>179</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Aptos Narrow</vt:lpstr>
      <vt:lpstr>Arial</vt:lpstr>
      <vt:lpstr>Segoe UI</vt:lpstr>
      <vt:lpstr>Office Theme</vt:lpstr>
      <vt:lpstr>Normalisation des Données</vt:lpstr>
      <vt:lpstr>Que signifie la normalisation des données ?</vt:lpstr>
      <vt:lpstr>Pourquoi la normalisation est importante ?</vt:lpstr>
      <vt:lpstr>Exemple  1</vt:lpstr>
      <vt:lpstr>Exemple  2</vt:lpstr>
      <vt:lpstr>Exemple  3</vt:lpstr>
      <vt:lpstr>Exemple  4</vt:lpstr>
      <vt:lpstr>Exemple  4</vt:lpstr>
      <vt:lpstr>Exemple  4</vt:lpstr>
      <vt:lpstr>Exemple  5</vt:lpstr>
      <vt:lpstr>Exemple  6</vt:lpstr>
      <vt:lpstr>PowerPoint Presentation</vt:lpstr>
      <vt:lpstr>Exemple  7</vt:lpstr>
      <vt:lpstr>Exemple  7</vt:lpstr>
      <vt:lpstr>Conséquences possibles de la non-standardisation des données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Greta Dargie</dc:creator>
  <cp:lastModifiedBy>Greta Dargie</cp:lastModifiedBy>
  <cp:revision>7</cp:revision>
  <dcterms:created xsi:type="dcterms:W3CDTF">2026-01-14T21:34:49Z</dcterms:created>
  <dcterms:modified xsi:type="dcterms:W3CDTF">2026-01-15T09:54:29Z</dcterms:modified>
</cp:coreProperties>
</file>