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1" r:id="rId2"/>
    <p:sldId id="262" r:id="rId3"/>
    <p:sldId id="263" r:id="rId4"/>
    <p:sldId id="264" r:id="rId5"/>
    <p:sldId id="265" r:id="rId6"/>
    <p:sldId id="270" r:id="rId7"/>
    <p:sldId id="266" r:id="rId8"/>
    <p:sldId id="268" r:id="rId9"/>
    <p:sldId id="269" r:id="rId10"/>
    <p:sldId id="271" r:id="rId11"/>
    <p:sldId id="256" r:id="rId12"/>
    <p:sldId id="258" r:id="rId13"/>
    <p:sldId id="259"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02F2DD-683A-42FA-B0F3-D25E14B52A8B}" v="14" dt="2026-01-16T07:01:26.3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49348-AFA3-42F5-843B-1D6C6C03BBFB}" type="datetimeFigureOut">
              <a:rPr lang="en-GB" smtClean="0"/>
              <a:t>20/01/2026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4BEFB1-F6E2-4CBC-83E6-690AEE59BEE7}" type="slidenum">
              <a:rPr lang="en-GB" smtClean="0"/>
              <a:t>‹#›</a:t>
            </a:fld>
            <a:endParaRPr lang="en-GB"/>
          </a:p>
        </p:txBody>
      </p:sp>
    </p:spTree>
    <p:extLst>
      <p:ext uri="{BB962C8B-B14F-4D97-AF65-F5344CB8AC3E}">
        <p14:creationId xmlns:p14="http://schemas.microsoft.com/office/powerpoint/2010/main" val="553287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 pieces of advice and useful information</a:t>
            </a:r>
          </a:p>
        </p:txBody>
      </p:sp>
      <p:sp>
        <p:nvSpPr>
          <p:cNvPr id="4" name="Slide Number Placeholder 3"/>
          <p:cNvSpPr>
            <a:spLocks noGrp="1"/>
          </p:cNvSpPr>
          <p:nvPr>
            <p:ph type="sldNum" sz="quarter" idx="5"/>
          </p:nvPr>
        </p:nvSpPr>
        <p:spPr/>
        <p:txBody>
          <a:bodyPr/>
          <a:lstStyle/>
          <a:p>
            <a:fld id="{784BEFB1-F6E2-4CBC-83E6-690AEE59BEE7}" type="slidenum">
              <a:rPr lang="en-GB" smtClean="0"/>
              <a:t>1</a:t>
            </a:fld>
            <a:endParaRPr lang="en-GB"/>
          </a:p>
        </p:txBody>
      </p:sp>
    </p:spTree>
    <p:extLst>
      <p:ext uri="{BB962C8B-B14F-4D97-AF65-F5344CB8AC3E}">
        <p14:creationId xmlns:p14="http://schemas.microsoft.com/office/powerpoint/2010/main" val="1300404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You’ve learned a lot about a lot of different things this week. </a:t>
            </a:r>
            <a:br>
              <a:rPr lang="en-GB" dirty="0"/>
            </a:br>
            <a:r>
              <a:rPr lang="en-GB" dirty="0"/>
              <a:t>Like what?</a:t>
            </a:r>
          </a:p>
        </p:txBody>
      </p:sp>
      <p:sp>
        <p:nvSpPr>
          <p:cNvPr id="4" name="Slide Number Placeholder 3"/>
          <p:cNvSpPr>
            <a:spLocks noGrp="1"/>
          </p:cNvSpPr>
          <p:nvPr>
            <p:ph type="sldNum" sz="quarter" idx="5"/>
          </p:nvPr>
        </p:nvSpPr>
        <p:spPr/>
        <p:txBody>
          <a:bodyPr/>
          <a:lstStyle/>
          <a:p>
            <a:fld id="{784BEFB1-F6E2-4CBC-83E6-690AEE59BEE7}" type="slidenum">
              <a:rPr lang="en-GB" smtClean="0"/>
              <a:t>2</a:t>
            </a:fld>
            <a:endParaRPr lang="en-GB"/>
          </a:p>
        </p:txBody>
      </p:sp>
    </p:spTree>
    <p:extLst>
      <p:ext uri="{BB962C8B-B14F-4D97-AF65-F5344CB8AC3E}">
        <p14:creationId xmlns:p14="http://schemas.microsoft.com/office/powerpoint/2010/main" val="2212231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But it doesn’t matter that you learned a lot, UNLESS you continue to keep using these skills.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only way that you learn is something is by doing it. And the only way you will do it is if you have to. So incorporate using the tools you learned this week into your daily or weekly life. You all will be doing your Master’s and PhD. When it comes time to organize your data and </a:t>
            </a:r>
            <a:r>
              <a:rPr lang="en-GB" dirty="0" err="1"/>
              <a:t>analyze</a:t>
            </a:r>
            <a:r>
              <a:rPr lang="en-GB" dirty="0"/>
              <a:t> it can you do it all in R?</a:t>
            </a:r>
          </a:p>
          <a:p>
            <a:endParaRPr lang="en-GB" dirty="0"/>
          </a:p>
        </p:txBody>
      </p:sp>
      <p:sp>
        <p:nvSpPr>
          <p:cNvPr id="4" name="Slide Number Placeholder 3"/>
          <p:cNvSpPr>
            <a:spLocks noGrp="1"/>
          </p:cNvSpPr>
          <p:nvPr>
            <p:ph type="sldNum" sz="quarter" idx="5"/>
          </p:nvPr>
        </p:nvSpPr>
        <p:spPr/>
        <p:txBody>
          <a:bodyPr/>
          <a:lstStyle/>
          <a:p>
            <a:fld id="{784BEFB1-F6E2-4CBC-83E6-690AEE59BEE7}" type="slidenum">
              <a:rPr lang="en-GB" smtClean="0"/>
              <a:t>3</a:t>
            </a:fld>
            <a:endParaRPr lang="en-GB"/>
          </a:p>
        </p:txBody>
      </p:sp>
    </p:spTree>
    <p:extLst>
      <p:ext uri="{BB962C8B-B14F-4D97-AF65-F5344CB8AC3E}">
        <p14:creationId xmlns:p14="http://schemas.microsoft.com/office/powerpoint/2010/main" val="4222005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simple toolbox is all you need to build a house.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Metaphorically speaking you have a small R toolbox. How can you continue to grow this toolbox? Who’s responsibility is it?</a:t>
            </a:r>
          </a:p>
          <a:p>
            <a:endParaRPr lang="en-GB" dirty="0"/>
          </a:p>
        </p:txBody>
      </p:sp>
      <p:sp>
        <p:nvSpPr>
          <p:cNvPr id="4" name="Slide Number Placeholder 3"/>
          <p:cNvSpPr>
            <a:spLocks noGrp="1"/>
          </p:cNvSpPr>
          <p:nvPr>
            <p:ph type="sldNum" sz="quarter" idx="5"/>
          </p:nvPr>
        </p:nvSpPr>
        <p:spPr/>
        <p:txBody>
          <a:bodyPr/>
          <a:lstStyle/>
          <a:p>
            <a:fld id="{784BEFB1-F6E2-4CBC-83E6-690AEE59BEE7}" type="slidenum">
              <a:rPr lang="en-GB" smtClean="0"/>
              <a:t>4</a:t>
            </a:fld>
            <a:endParaRPr lang="en-GB"/>
          </a:p>
        </p:txBody>
      </p:sp>
    </p:spTree>
    <p:extLst>
      <p:ext uri="{BB962C8B-B14F-4D97-AF65-F5344CB8AC3E}">
        <p14:creationId xmlns:p14="http://schemas.microsoft.com/office/powerpoint/2010/main" val="2195623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Your learning is your responsibility.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People can show and tell you what they know, but it doesn’t matter unless you take the initiative to practice and utilise this information into your life. You have to be </a:t>
            </a:r>
            <a:r>
              <a:rPr lang="en-GB" b="1" dirty="0"/>
              <a:t>self-starting</a:t>
            </a:r>
            <a:r>
              <a:rPr lang="en-GB" dirty="0"/>
              <a:t>. </a:t>
            </a:r>
            <a:r>
              <a:rPr lang="en-GB" b="1" dirty="0"/>
              <a:t>Take initiative</a:t>
            </a:r>
            <a:r>
              <a:rPr lang="en-GB" dirty="0"/>
              <a:t>. Search for answers and information yourself. But at the same time </a:t>
            </a:r>
            <a:r>
              <a:rPr lang="en-GB" u="sng" dirty="0"/>
              <a:t>don’t get a big ego</a:t>
            </a:r>
            <a:r>
              <a:rPr lang="en-GB" dirty="0"/>
              <a:t>. And help others along the way.</a:t>
            </a:r>
          </a:p>
          <a:p>
            <a:endParaRPr lang="en-GB" dirty="0"/>
          </a:p>
        </p:txBody>
      </p:sp>
      <p:sp>
        <p:nvSpPr>
          <p:cNvPr id="4" name="Slide Number Placeholder 3"/>
          <p:cNvSpPr>
            <a:spLocks noGrp="1"/>
          </p:cNvSpPr>
          <p:nvPr>
            <p:ph type="sldNum" sz="quarter" idx="5"/>
          </p:nvPr>
        </p:nvSpPr>
        <p:spPr/>
        <p:txBody>
          <a:bodyPr/>
          <a:lstStyle/>
          <a:p>
            <a:fld id="{784BEFB1-F6E2-4CBC-83E6-690AEE59BEE7}" type="slidenum">
              <a:rPr lang="en-GB" smtClean="0"/>
              <a:t>5</a:t>
            </a:fld>
            <a:endParaRPr lang="en-GB"/>
          </a:p>
        </p:txBody>
      </p:sp>
    </p:spTree>
    <p:extLst>
      <p:ext uri="{BB962C8B-B14F-4D97-AF65-F5344CB8AC3E}">
        <p14:creationId xmlns:p14="http://schemas.microsoft.com/office/powerpoint/2010/main" val="1407814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 patient. It won’t happen over night.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you hit an error or a difficulty, try not to let that discourage you. Search for an answer online or with friends. Chances are someone else has had the same challenge. Collaborate!</a:t>
            </a:r>
          </a:p>
          <a:p>
            <a:endParaRPr lang="en-GB" dirty="0"/>
          </a:p>
        </p:txBody>
      </p:sp>
      <p:sp>
        <p:nvSpPr>
          <p:cNvPr id="4" name="Slide Number Placeholder 3"/>
          <p:cNvSpPr>
            <a:spLocks noGrp="1"/>
          </p:cNvSpPr>
          <p:nvPr>
            <p:ph type="sldNum" sz="quarter" idx="5"/>
          </p:nvPr>
        </p:nvSpPr>
        <p:spPr/>
        <p:txBody>
          <a:bodyPr/>
          <a:lstStyle/>
          <a:p>
            <a:fld id="{784BEFB1-F6E2-4CBC-83E6-690AEE59BEE7}" type="slidenum">
              <a:rPr lang="en-GB" smtClean="0"/>
              <a:t>6</a:t>
            </a:fld>
            <a:endParaRPr lang="en-GB"/>
          </a:p>
        </p:txBody>
      </p:sp>
    </p:spTree>
    <p:extLst>
      <p:ext uri="{BB962C8B-B14F-4D97-AF65-F5344CB8AC3E}">
        <p14:creationId xmlns:p14="http://schemas.microsoft.com/office/powerpoint/2010/main" val="3041560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Your research could be the bee’s knees, but it doesn’t matter unless it is reproducible, efficient, and easy to understand.</a:t>
            </a:r>
          </a:p>
        </p:txBody>
      </p:sp>
      <p:sp>
        <p:nvSpPr>
          <p:cNvPr id="4" name="Slide Number Placeholder 3"/>
          <p:cNvSpPr>
            <a:spLocks noGrp="1"/>
          </p:cNvSpPr>
          <p:nvPr>
            <p:ph type="sldNum" sz="quarter" idx="5"/>
          </p:nvPr>
        </p:nvSpPr>
        <p:spPr/>
        <p:txBody>
          <a:bodyPr/>
          <a:lstStyle/>
          <a:p>
            <a:fld id="{784BEFB1-F6E2-4CBC-83E6-690AEE59BEE7}" type="slidenum">
              <a:rPr lang="en-GB" smtClean="0"/>
              <a:t>7</a:t>
            </a:fld>
            <a:endParaRPr lang="en-GB"/>
          </a:p>
        </p:txBody>
      </p:sp>
    </p:spTree>
    <p:extLst>
      <p:ext uri="{BB962C8B-B14F-4D97-AF65-F5344CB8AC3E}">
        <p14:creationId xmlns:p14="http://schemas.microsoft.com/office/powerpoint/2010/main" val="3328328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my last pieces of specific R advice.</a:t>
            </a:r>
          </a:p>
          <a:p>
            <a:r>
              <a:rPr lang="en-GB" dirty="0"/>
              <a:t>Once you have collected your data and it’s stored in Excel, do all of your modifications and analysis in a tool like R.</a:t>
            </a:r>
          </a:p>
          <a:p>
            <a:r>
              <a:rPr lang="en-GB" dirty="0"/>
              <a:t>Be well organised. Have a folder that stores your </a:t>
            </a:r>
            <a:r>
              <a:rPr lang="en-GB" dirty="0" err="1"/>
              <a:t>Rscript</a:t>
            </a:r>
            <a:r>
              <a:rPr lang="en-GB" dirty="0"/>
              <a:t> and associated data and information for each assignment or project that you work on.</a:t>
            </a:r>
          </a:p>
          <a:p>
            <a:pPr lvl="1"/>
            <a:r>
              <a:rPr lang="en-GB" dirty="0"/>
              <a:t>For more advanced coders, can you learn about R Projects, </a:t>
            </a:r>
            <a:r>
              <a:rPr lang="en-GB" dirty="0" err="1"/>
              <a:t>RMarkdown</a:t>
            </a:r>
            <a:r>
              <a:rPr lang="en-GB" dirty="0"/>
              <a:t>, Quarto, </a:t>
            </a:r>
            <a:r>
              <a:rPr lang="en-GB" dirty="0" err="1"/>
              <a:t>RShiny</a:t>
            </a:r>
            <a:r>
              <a:rPr lang="en-GB" dirty="0"/>
              <a:t>, GitHub???</a:t>
            </a:r>
          </a:p>
          <a:p>
            <a:r>
              <a:rPr lang="en-GB" dirty="0"/>
              <a:t>If you find yourself repeatedly doing an action in Excel or R, there is probably a faster, more efficient way to write your code. </a:t>
            </a:r>
          </a:p>
          <a:p>
            <a:endParaRPr lang="en-GB" dirty="0"/>
          </a:p>
          <a:p>
            <a:endParaRPr lang="en-GB" dirty="0"/>
          </a:p>
        </p:txBody>
      </p:sp>
      <p:sp>
        <p:nvSpPr>
          <p:cNvPr id="4" name="Slide Number Placeholder 3"/>
          <p:cNvSpPr>
            <a:spLocks noGrp="1"/>
          </p:cNvSpPr>
          <p:nvPr>
            <p:ph type="sldNum" sz="quarter" idx="5"/>
          </p:nvPr>
        </p:nvSpPr>
        <p:spPr/>
        <p:txBody>
          <a:bodyPr/>
          <a:lstStyle/>
          <a:p>
            <a:fld id="{784BEFB1-F6E2-4CBC-83E6-690AEE59BEE7}" type="slidenum">
              <a:rPr lang="en-GB" smtClean="0"/>
              <a:t>8</a:t>
            </a:fld>
            <a:endParaRPr lang="en-GB"/>
          </a:p>
        </p:txBody>
      </p:sp>
    </p:spTree>
    <p:extLst>
      <p:ext uri="{BB962C8B-B14F-4D97-AF65-F5344CB8AC3E}">
        <p14:creationId xmlns:p14="http://schemas.microsoft.com/office/powerpoint/2010/main" val="2888080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But most importantly, have fun with it. And remember the purpose.</a:t>
            </a:r>
          </a:p>
        </p:txBody>
      </p:sp>
      <p:sp>
        <p:nvSpPr>
          <p:cNvPr id="4" name="Slide Number Placeholder 3"/>
          <p:cNvSpPr>
            <a:spLocks noGrp="1"/>
          </p:cNvSpPr>
          <p:nvPr>
            <p:ph type="sldNum" sz="quarter" idx="5"/>
          </p:nvPr>
        </p:nvSpPr>
        <p:spPr/>
        <p:txBody>
          <a:bodyPr/>
          <a:lstStyle/>
          <a:p>
            <a:fld id="{784BEFB1-F6E2-4CBC-83E6-690AEE59BEE7}" type="slidenum">
              <a:rPr lang="en-GB" smtClean="0"/>
              <a:t>9</a:t>
            </a:fld>
            <a:endParaRPr lang="en-GB"/>
          </a:p>
        </p:txBody>
      </p:sp>
    </p:spTree>
    <p:extLst>
      <p:ext uri="{BB962C8B-B14F-4D97-AF65-F5344CB8AC3E}">
        <p14:creationId xmlns:p14="http://schemas.microsoft.com/office/powerpoint/2010/main" val="2827605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80357-F1E0-FBFB-1324-AAA821D98D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C2383A4-EBE8-C32C-105C-ADCDC57417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DFF5668-58B7-1666-8333-F9BF0E0D0E8D}"/>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5" name="Footer Placeholder 4">
            <a:extLst>
              <a:ext uri="{FF2B5EF4-FFF2-40B4-BE49-F238E27FC236}">
                <a16:creationId xmlns:a16="http://schemas.microsoft.com/office/drawing/2014/main" id="{480F618D-2A40-712D-16AD-405FE5C726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94BC54A-59E1-4C76-2F59-406FD1F072B2}"/>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1550079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4E18-5CE3-68BB-B63D-97885EAD89B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BEF9555-ACA7-7E66-54E6-7F81EC2F31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C0323FB-CAAB-4D54-0871-56EFEA11857A}"/>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5" name="Footer Placeholder 4">
            <a:extLst>
              <a:ext uri="{FF2B5EF4-FFF2-40B4-BE49-F238E27FC236}">
                <a16:creationId xmlns:a16="http://schemas.microsoft.com/office/drawing/2014/main" id="{EB83A335-7D83-BD9C-A63A-63DD52425D5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7805C87-EB64-DC69-DE5D-AF0D9F0F9DBF}"/>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2384941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1DBA5-77F4-B332-4771-A522E2354E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0AA951B-4E31-0C0E-5D1C-14444898FB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B44475-57C0-2E7C-25C6-68DECDE0DEE0}"/>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5" name="Footer Placeholder 4">
            <a:extLst>
              <a:ext uri="{FF2B5EF4-FFF2-40B4-BE49-F238E27FC236}">
                <a16:creationId xmlns:a16="http://schemas.microsoft.com/office/drawing/2014/main" id="{B8FFCDA6-9E84-28F5-8CD2-3AD1BF610F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5D271BD-D862-DD53-933C-1F1598ABADBC}"/>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1919720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F9007-7689-6D22-CE8D-96CF328B736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C3813CA-77AD-ADDA-DE01-751845B3B3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DF654D6-36AE-0EE1-CCA1-D4447D4F1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A23EC8D-CA95-F6FC-EC26-B22D7B785512}"/>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6" name="Footer Placeholder 5">
            <a:extLst>
              <a:ext uri="{FF2B5EF4-FFF2-40B4-BE49-F238E27FC236}">
                <a16:creationId xmlns:a16="http://schemas.microsoft.com/office/drawing/2014/main" id="{3B01C578-B1B2-8005-0FD6-0999766223E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2A8DA4-06CC-0D28-C5B2-82A33DC277AB}"/>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4291788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A5DC0-E599-C146-C128-8AFFD7AB32A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68B1C-0AD9-9A61-FF86-BD85E8CA4D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A98F00-A56D-9F6C-F54E-60DC18F958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5235054-2C7B-E7BB-512C-A77AA8D01A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8900EB-27D8-13C5-EF7E-6A736A2507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871B7D6-776C-2021-CC34-F7474C7A0D39}"/>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8" name="Footer Placeholder 7">
            <a:extLst>
              <a:ext uri="{FF2B5EF4-FFF2-40B4-BE49-F238E27FC236}">
                <a16:creationId xmlns:a16="http://schemas.microsoft.com/office/drawing/2014/main" id="{F30023BA-44DA-45C0-4385-B353CE52C0C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C3BBAF6-80F2-52F6-B744-76DD3D284CD2}"/>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315004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B5747-7DD4-5AFF-95CA-2D6C5963C5E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2EEF41A-C29B-9F46-B2C7-931A6F4C7F43}"/>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4" name="Footer Placeholder 3">
            <a:extLst>
              <a:ext uri="{FF2B5EF4-FFF2-40B4-BE49-F238E27FC236}">
                <a16:creationId xmlns:a16="http://schemas.microsoft.com/office/drawing/2014/main" id="{B678E6A0-56EE-6158-B89E-6A0B1989086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C0FBBE8-8729-BFEA-983A-C393EB439E0D}"/>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2164902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F040B-765B-14D0-5E55-FBCEE2E067F1}"/>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3" name="Footer Placeholder 2">
            <a:extLst>
              <a:ext uri="{FF2B5EF4-FFF2-40B4-BE49-F238E27FC236}">
                <a16:creationId xmlns:a16="http://schemas.microsoft.com/office/drawing/2014/main" id="{F707B3C7-3390-B487-2B79-C4646C2BAE5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6788788-BC2A-750B-E286-8BE73FD48C53}"/>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2752907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34200-D99E-F467-9FD0-72220CE9FA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AD978EA-695E-DB11-7C47-F8C07E871E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4EA1C7D-79E8-7589-8008-ABDC70AC81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9FE13B-32AC-D109-4111-DCAAC9A2D244}"/>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6" name="Footer Placeholder 5">
            <a:extLst>
              <a:ext uri="{FF2B5EF4-FFF2-40B4-BE49-F238E27FC236}">
                <a16:creationId xmlns:a16="http://schemas.microsoft.com/office/drawing/2014/main" id="{A4818A15-F6A9-7F03-3071-F71BEBBF86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F2F1028-0B78-A35D-BFAE-B8048B5F7506}"/>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3626480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81D2-A040-397A-BFC3-2C47880F9C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C3FF8C6-6273-23C5-BF1C-75C6B94391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D54F8D9-7AE9-35DE-34E2-0E6E30AEED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608FF9-28F9-6748-A29C-7BA3D21E6DDB}"/>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6" name="Footer Placeholder 5">
            <a:extLst>
              <a:ext uri="{FF2B5EF4-FFF2-40B4-BE49-F238E27FC236}">
                <a16:creationId xmlns:a16="http://schemas.microsoft.com/office/drawing/2014/main" id="{97D18BE5-F8A0-F9E0-6B06-3132488AB20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887F57-3CB2-9383-14DA-52ED28ED233D}"/>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111598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70209-26AD-4BE1-F5BE-198CBCA9C6E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DB93B4A-B0B4-6946-F55F-6A0299CDF7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5CA7D2-D019-5382-8BE4-6C98B19FB8E8}"/>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5" name="Footer Placeholder 4">
            <a:extLst>
              <a:ext uri="{FF2B5EF4-FFF2-40B4-BE49-F238E27FC236}">
                <a16:creationId xmlns:a16="http://schemas.microsoft.com/office/drawing/2014/main" id="{33F8FA12-DA86-12D5-B8EE-9C4EDB04AC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2E9201-4605-D9BB-83B2-EB842956F90D}"/>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1576030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B6078B-F290-5C04-BF39-DD14E04A75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6F93270-D8CB-A46B-39B1-2E5ACF6BA6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85E37B8-74F0-B252-DC5D-56423F007694}"/>
              </a:ext>
            </a:extLst>
          </p:cNvPr>
          <p:cNvSpPr>
            <a:spLocks noGrp="1"/>
          </p:cNvSpPr>
          <p:nvPr>
            <p:ph type="dt" sz="half" idx="10"/>
          </p:nvPr>
        </p:nvSpPr>
        <p:spPr/>
        <p:txBody>
          <a:bodyPr/>
          <a:lstStyle/>
          <a:p>
            <a:fld id="{D88053CD-8EB5-41C0-9AEC-CF6F766036E5}" type="datetimeFigureOut">
              <a:rPr lang="en-GB" smtClean="0"/>
              <a:t>20/01/2026</a:t>
            </a:fld>
            <a:endParaRPr lang="en-GB"/>
          </a:p>
        </p:txBody>
      </p:sp>
      <p:sp>
        <p:nvSpPr>
          <p:cNvPr id="5" name="Footer Placeholder 4">
            <a:extLst>
              <a:ext uri="{FF2B5EF4-FFF2-40B4-BE49-F238E27FC236}">
                <a16:creationId xmlns:a16="http://schemas.microsoft.com/office/drawing/2014/main" id="{B964361F-3E3B-51AE-C514-8A25EB8EBF7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DD9DF3-7BAF-406B-A5BD-58750E8E515E}"/>
              </a:ext>
            </a:extLst>
          </p:cNvPr>
          <p:cNvSpPr>
            <a:spLocks noGrp="1"/>
          </p:cNvSpPr>
          <p:nvPr>
            <p:ph type="sldNum" sz="quarter" idx="12"/>
          </p:nvPr>
        </p:nvSpPr>
        <p:spPr/>
        <p:txBody>
          <a:bodyPr/>
          <a:lstStyle/>
          <a:p>
            <a:fld id="{3FB8C74D-6A39-4029-B9E7-8CD75BA44FF6}" type="slidenum">
              <a:rPr lang="en-GB" smtClean="0"/>
              <a:t>‹#›</a:t>
            </a:fld>
            <a:endParaRPr lang="en-GB"/>
          </a:p>
        </p:txBody>
      </p:sp>
    </p:spTree>
    <p:extLst>
      <p:ext uri="{BB962C8B-B14F-4D97-AF65-F5344CB8AC3E}">
        <p14:creationId xmlns:p14="http://schemas.microsoft.com/office/powerpoint/2010/main" val="2437434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4E98CB-D056-ED3A-09A3-03B05FC592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8920CD2-654F-39C2-D15C-C96DDCC52A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E197A5D-6407-8EF7-9C17-3609498AD8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8053CD-8EB5-41C0-9AEC-CF6F766036E5}" type="datetimeFigureOut">
              <a:rPr lang="en-GB" smtClean="0"/>
              <a:t>20/01/2026</a:t>
            </a:fld>
            <a:endParaRPr lang="en-GB"/>
          </a:p>
        </p:txBody>
      </p:sp>
      <p:sp>
        <p:nvSpPr>
          <p:cNvPr id="5" name="Footer Placeholder 4">
            <a:extLst>
              <a:ext uri="{FF2B5EF4-FFF2-40B4-BE49-F238E27FC236}">
                <a16:creationId xmlns:a16="http://schemas.microsoft.com/office/drawing/2014/main" id="{D49DD614-75DD-1FD4-E7E8-782B8D4381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709DBC9-5CDF-D803-FCA4-6FDFB274EF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B8C74D-6A39-4029-B9E7-8CD75BA44FF6}" type="slidenum">
              <a:rPr lang="en-GB" smtClean="0"/>
              <a:t>‹#›</a:t>
            </a:fld>
            <a:endParaRPr lang="en-GB"/>
          </a:p>
        </p:txBody>
      </p:sp>
    </p:spTree>
    <p:extLst>
      <p:ext uri="{BB962C8B-B14F-4D97-AF65-F5344CB8AC3E}">
        <p14:creationId xmlns:p14="http://schemas.microsoft.com/office/powerpoint/2010/main" val="10630882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C61C5-F0BC-3B68-FFC7-F7E0082F9746}"/>
              </a:ext>
            </a:extLst>
          </p:cNvPr>
          <p:cNvSpPr>
            <a:spLocks noGrp="1"/>
          </p:cNvSpPr>
          <p:nvPr>
            <p:ph type="ctrTitle"/>
          </p:nvPr>
        </p:nvSpPr>
        <p:spPr/>
        <p:txBody>
          <a:bodyPr>
            <a:normAutofit/>
          </a:bodyPr>
          <a:lstStyle/>
          <a:p>
            <a:r>
              <a:rPr lang="fr-FR" dirty="0"/>
              <a:t>Quelques conseils et informations utiles</a:t>
            </a:r>
            <a:endParaRPr lang="en-GB" dirty="0"/>
          </a:p>
        </p:txBody>
      </p:sp>
      <p:sp>
        <p:nvSpPr>
          <p:cNvPr id="3" name="Subtitle 2">
            <a:extLst>
              <a:ext uri="{FF2B5EF4-FFF2-40B4-BE49-F238E27FC236}">
                <a16:creationId xmlns:a16="http://schemas.microsoft.com/office/drawing/2014/main" id="{6E539443-222F-6DAF-8F01-F20D9F69488C}"/>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126855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7A17D-5AC3-B985-DB1C-B8DD40F1A864}"/>
              </a:ext>
            </a:extLst>
          </p:cNvPr>
          <p:cNvSpPr>
            <a:spLocks noGrp="1"/>
          </p:cNvSpPr>
          <p:nvPr>
            <p:ph type="title"/>
          </p:nvPr>
        </p:nvSpPr>
        <p:spPr/>
        <p:txBody>
          <a:bodyPr>
            <a:normAutofit/>
          </a:bodyPr>
          <a:lstStyle/>
          <a:p>
            <a:r>
              <a:rPr lang="fr-FR" dirty="0"/>
              <a:t>Tu as appris plein de choses différentes cette semaine. Comme quoi ?</a:t>
            </a:r>
            <a:endParaRPr lang="en-GB" dirty="0"/>
          </a:p>
        </p:txBody>
      </p:sp>
      <p:sp>
        <p:nvSpPr>
          <p:cNvPr id="3" name="Text Placeholder 2">
            <a:extLst>
              <a:ext uri="{FF2B5EF4-FFF2-40B4-BE49-F238E27FC236}">
                <a16:creationId xmlns:a16="http://schemas.microsoft.com/office/drawing/2014/main" id="{D1932443-1BDA-9672-7994-CDDD9BB22BF4}"/>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804392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51280-387C-BBD8-436B-9E788251556F}"/>
              </a:ext>
            </a:extLst>
          </p:cNvPr>
          <p:cNvSpPr>
            <a:spLocks noGrp="1"/>
          </p:cNvSpPr>
          <p:nvPr>
            <p:ph type="title"/>
          </p:nvPr>
        </p:nvSpPr>
        <p:spPr/>
        <p:txBody>
          <a:bodyPr>
            <a:normAutofit fontScale="90000"/>
          </a:bodyPr>
          <a:lstStyle/>
          <a:p>
            <a:r>
              <a:rPr lang="fr-FR" dirty="0"/>
              <a:t>Mais le fait d'avoir beaucoup appris n'a aucune importance, à moins que vous ne continuiez à utiliser ces compétences.</a:t>
            </a:r>
            <a:endParaRPr lang="en-GB" dirty="0"/>
          </a:p>
        </p:txBody>
      </p:sp>
      <p:sp>
        <p:nvSpPr>
          <p:cNvPr id="3" name="Text Placeholder 2">
            <a:extLst>
              <a:ext uri="{FF2B5EF4-FFF2-40B4-BE49-F238E27FC236}">
                <a16:creationId xmlns:a16="http://schemas.microsoft.com/office/drawing/2014/main" id="{CC7AC4C0-8E00-807D-E267-463199EE599E}"/>
              </a:ext>
            </a:extLst>
          </p:cNvPr>
          <p:cNvSpPr>
            <a:spLocks noGrp="1"/>
          </p:cNvSpPr>
          <p:nvPr>
            <p:ph type="body" idx="1"/>
          </p:nvPr>
        </p:nvSpPr>
        <p:spPr/>
        <p:txBody>
          <a:bodyPr>
            <a:normAutofit/>
          </a:bodyPr>
          <a:lstStyle/>
          <a:p>
            <a:r>
              <a:rPr lang="fr-FR" dirty="0"/>
              <a:t>On n'apprend rien sans pratiquer. Et on ne pratique que si on y est obligé. Alors, intégrez les outils appris cette semaine à votre quotidien. Vous allez tous faire un master ou un doctorat. Le moment venu d'organiser et d'analyser vos données, saurez-vous tout faire avec R ?</a:t>
            </a:r>
            <a:endParaRPr lang="en-GB" dirty="0"/>
          </a:p>
        </p:txBody>
      </p:sp>
    </p:spTree>
    <p:extLst>
      <p:ext uri="{BB962C8B-B14F-4D97-AF65-F5344CB8AC3E}">
        <p14:creationId xmlns:p14="http://schemas.microsoft.com/office/powerpoint/2010/main" val="3166703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32BB1-96F4-C74F-3991-AE9D70725841}"/>
              </a:ext>
            </a:extLst>
          </p:cNvPr>
          <p:cNvSpPr>
            <a:spLocks noGrp="1"/>
          </p:cNvSpPr>
          <p:nvPr>
            <p:ph type="title"/>
          </p:nvPr>
        </p:nvSpPr>
        <p:spPr/>
        <p:txBody>
          <a:bodyPr/>
          <a:lstStyle/>
          <a:p>
            <a:r>
              <a:rPr lang="fr-FR" dirty="0"/>
              <a:t>Une simple boîte à outils suffit pour construire une maison.</a:t>
            </a:r>
            <a:endParaRPr lang="en-GB" dirty="0"/>
          </a:p>
        </p:txBody>
      </p:sp>
      <p:sp>
        <p:nvSpPr>
          <p:cNvPr id="3" name="Text Placeholder 2">
            <a:extLst>
              <a:ext uri="{FF2B5EF4-FFF2-40B4-BE49-F238E27FC236}">
                <a16:creationId xmlns:a16="http://schemas.microsoft.com/office/drawing/2014/main" id="{B61E9C46-7E08-A961-A853-C734CB0A5755}"/>
              </a:ext>
            </a:extLst>
          </p:cNvPr>
          <p:cNvSpPr>
            <a:spLocks noGrp="1"/>
          </p:cNvSpPr>
          <p:nvPr>
            <p:ph type="body" idx="1"/>
          </p:nvPr>
        </p:nvSpPr>
        <p:spPr/>
        <p:txBody>
          <a:bodyPr/>
          <a:lstStyle/>
          <a:p>
            <a:r>
              <a:rPr lang="fr-FR" dirty="0"/>
              <a:t>Métaphoriquement parlant, vous disposez d'une petite boîte à outils R. Comment pouvez-vous continuer à l'étoffer ? À qui incombe cette responsabilité ?</a:t>
            </a:r>
            <a:endParaRPr lang="en-GB" dirty="0"/>
          </a:p>
        </p:txBody>
      </p:sp>
    </p:spTree>
    <p:extLst>
      <p:ext uri="{BB962C8B-B14F-4D97-AF65-F5344CB8AC3E}">
        <p14:creationId xmlns:p14="http://schemas.microsoft.com/office/powerpoint/2010/main" val="2766230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79BC2-69DF-136A-71A2-17C757149753}"/>
              </a:ext>
            </a:extLst>
          </p:cNvPr>
          <p:cNvSpPr>
            <a:spLocks noGrp="1"/>
          </p:cNvSpPr>
          <p:nvPr>
            <p:ph type="title"/>
          </p:nvPr>
        </p:nvSpPr>
        <p:spPr/>
        <p:txBody>
          <a:bodyPr/>
          <a:lstStyle/>
          <a:p>
            <a:r>
              <a:rPr lang="fr-FR" dirty="0"/>
              <a:t>Votre apprentissage est votre responsabilité.</a:t>
            </a:r>
            <a:endParaRPr lang="en-GB" dirty="0"/>
          </a:p>
        </p:txBody>
      </p:sp>
      <p:sp>
        <p:nvSpPr>
          <p:cNvPr id="3" name="Text Placeholder 2">
            <a:extLst>
              <a:ext uri="{FF2B5EF4-FFF2-40B4-BE49-F238E27FC236}">
                <a16:creationId xmlns:a16="http://schemas.microsoft.com/office/drawing/2014/main" id="{310FBF1E-2B57-1227-1898-044E95328F09}"/>
              </a:ext>
            </a:extLst>
          </p:cNvPr>
          <p:cNvSpPr>
            <a:spLocks noGrp="1"/>
          </p:cNvSpPr>
          <p:nvPr>
            <p:ph type="body" idx="1"/>
          </p:nvPr>
        </p:nvSpPr>
        <p:spPr/>
        <p:txBody>
          <a:bodyPr>
            <a:normAutofit fontScale="92500" lnSpcReduction="10000"/>
          </a:bodyPr>
          <a:lstStyle/>
          <a:p>
            <a:r>
              <a:rPr lang="fr-FR" dirty="0"/>
              <a:t>On peut vous transmettre des connaissances, mais cela reste vain si vous ne prenez pas l'initiative de les mettre en pratique et de les intégrer à votre vie. Il faut </a:t>
            </a:r>
            <a:r>
              <a:rPr lang="fr-FR" b="1" dirty="0"/>
              <a:t>être proactif</a:t>
            </a:r>
            <a:r>
              <a:rPr lang="fr-FR" dirty="0"/>
              <a:t>, </a:t>
            </a:r>
            <a:r>
              <a:rPr lang="fr-FR" b="1" dirty="0"/>
              <a:t>prendre des initiatives</a:t>
            </a:r>
            <a:r>
              <a:rPr lang="fr-FR" dirty="0"/>
              <a:t>, chercher soi-même les réponses et les informations, </a:t>
            </a:r>
            <a:r>
              <a:rPr lang="fr-FR" u="sng" dirty="0"/>
              <a:t>sans pour autant tomber dans l'orgueil</a:t>
            </a:r>
            <a:r>
              <a:rPr lang="fr-FR" dirty="0"/>
              <a:t>. Et n'hésitez pas à aider les autres.</a:t>
            </a:r>
            <a:endParaRPr lang="en-GB" dirty="0"/>
          </a:p>
        </p:txBody>
      </p:sp>
    </p:spTree>
    <p:extLst>
      <p:ext uri="{BB962C8B-B14F-4D97-AF65-F5344CB8AC3E}">
        <p14:creationId xmlns:p14="http://schemas.microsoft.com/office/powerpoint/2010/main" val="1799574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15110-9F64-E79E-F7F8-E9D684EA9F5F}"/>
              </a:ext>
            </a:extLst>
          </p:cNvPr>
          <p:cNvSpPr>
            <a:spLocks noGrp="1"/>
          </p:cNvSpPr>
          <p:nvPr>
            <p:ph type="title"/>
          </p:nvPr>
        </p:nvSpPr>
        <p:spPr/>
        <p:txBody>
          <a:bodyPr/>
          <a:lstStyle/>
          <a:p>
            <a:r>
              <a:rPr lang="fr-FR" dirty="0"/>
              <a:t>Soyez patient. Cela ne se fera pas du jour au lendemain.</a:t>
            </a:r>
            <a:endParaRPr lang="en-GB" dirty="0"/>
          </a:p>
        </p:txBody>
      </p:sp>
      <p:sp>
        <p:nvSpPr>
          <p:cNvPr id="3" name="Text Placeholder 2">
            <a:extLst>
              <a:ext uri="{FF2B5EF4-FFF2-40B4-BE49-F238E27FC236}">
                <a16:creationId xmlns:a16="http://schemas.microsoft.com/office/drawing/2014/main" id="{6C64E4EA-D0C9-A129-CDBC-E6A2CC9D3ED7}"/>
              </a:ext>
            </a:extLst>
          </p:cNvPr>
          <p:cNvSpPr>
            <a:spLocks noGrp="1"/>
          </p:cNvSpPr>
          <p:nvPr>
            <p:ph type="body" idx="1"/>
          </p:nvPr>
        </p:nvSpPr>
        <p:spPr/>
        <p:txBody>
          <a:bodyPr/>
          <a:lstStyle/>
          <a:p>
            <a:r>
              <a:rPr lang="fr-FR" dirty="0"/>
              <a:t>Si vous rencontrez une erreur ou une difficulté, ne vous découragez pas. Cherchez la réponse en ligne ou auprès d'amis. Il y a de fortes chances que quelqu'un d'autre ait déjà rencontré le même problème. Collaborez !</a:t>
            </a:r>
            <a:endParaRPr lang="en-GB" dirty="0"/>
          </a:p>
        </p:txBody>
      </p:sp>
    </p:spTree>
    <p:extLst>
      <p:ext uri="{BB962C8B-B14F-4D97-AF65-F5344CB8AC3E}">
        <p14:creationId xmlns:p14="http://schemas.microsoft.com/office/powerpoint/2010/main" val="3879926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38BE0-94B1-D52C-E88C-65CA952067AA}"/>
              </a:ext>
            </a:extLst>
          </p:cNvPr>
          <p:cNvSpPr>
            <a:spLocks noGrp="1"/>
          </p:cNvSpPr>
          <p:nvPr>
            <p:ph type="title"/>
          </p:nvPr>
        </p:nvSpPr>
        <p:spPr>
          <a:xfrm>
            <a:off x="838200" y="2002631"/>
            <a:ext cx="10515600" cy="2852737"/>
          </a:xfrm>
        </p:spPr>
        <p:txBody>
          <a:bodyPr>
            <a:normAutofit fontScale="90000"/>
          </a:bodyPr>
          <a:lstStyle/>
          <a:p>
            <a:r>
              <a:rPr lang="fr-FR" dirty="0"/>
              <a:t>Vos recherches pourraient être exceptionnelles, mais cela n'a aucune importance si elles ne sont pas reproductibles, efficaces et faciles à comprendre.</a:t>
            </a:r>
            <a:endParaRPr lang="en-GB" dirty="0"/>
          </a:p>
        </p:txBody>
      </p:sp>
    </p:spTree>
    <p:extLst>
      <p:ext uri="{BB962C8B-B14F-4D97-AF65-F5344CB8AC3E}">
        <p14:creationId xmlns:p14="http://schemas.microsoft.com/office/powerpoint/2010/main" val="3243548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17800-1DD6-991B-68C6-7E071273D9A5}"/>
              </a:ext>
            </a:extLst>
          </p:cNvPr>
          <p:cNvSpPr>
            <a:spLocks noGrp="1"/>
          </p:cNvSpPr>
          <p:nvPr>
            <p:ph type="title"/>
          </p:nvPr>
        </p:nvSpPr>
        <p:spPr/>
        <p:txBody>
          <a:bodyPr/>
          <a:lstStyle/>
          <a:p>
            <a:r>
              <a:rPr lang="fr-FR" dirty="0"/>
              <a:t>Voici donc mes derniers conseils spécifiques concernant R.</a:t>
            </a:r>
            <a:endParaRPr lang="en-GB" dirty="0"/>
          </a:p>
        </p:txBody>
      </p:sp>
      <p:sp>
        <p:nvSpPr>
          <p:cNvPr id="3" name="Content Placeholder 2">
            <a:extLst>
              <a:ext uri="{FF2B5EF4-FFF2-40B4-BE49-F238E27FC236}">
                <a16:creationId xmlns:a16="http://schemas.microsoft.com/office/drawing/2014/main" id="{1D9D2F41-F233-C679-67E7-A68F80A01869}"/>
              </a:ext>
            </a:extLst>
          </p:cNvPr>
          <p:cNvSpPr>
            <a:spLocks noGrp="1"/>
          </p:cNvSpPr>
          <p:nvPr>
            <p:ph idx="1"/>
          </p:nvPr>
        </p:nvSpPr>
        <p:spPr>
          <a:xfrm>
            <a:off x="838200" y="1825625"/>
            <a:ext cx="10515600" cy="4667250"/>
          </a:xfrm>
        </p:spPr>
        <p:txBody>
          <a:bodyPr>
            <a:normAutofit/>
          </a:bodyPr>
          <a:lstStyle/>
          <a:p>
            <a:r>
              <a:rPr lang="fr-FR" dirty="0"/>
              <a:t>Une fois vos données collectées et enregistrées dans Excel, effectuez toutes vos modifications et analyses dans un outil comme R.</a:t>
            </a:r>
          </a:p>
          <a:p>
            <a:r>
              <a:rPr lang="fr-FR" dirty="0"/>
              <a:t>Soyez bien organisé(e). Créez un dossier pour stocker votre script R ainsi que les données et informations associées à chaque devoir ou projet.</a:t>
            </a:r>
          </a:p>
          <a:p>
            <a:pPr lvl="1"/>
            <a:r>
              <a:rPr lang="fr-FR" dirty="0"/>
              <a:t>Pour les développeurs plus expérimentés, pourriez-vous vous familiariser avec les projets R, </a:t>
            </a:r>
            <a:r>
              <a:rPr lang="fr-FR" dirty="0" err="1"/>
              <a:t>RMarkdown</a:t>
            </a:r>
            <a:r>
              <a:rPr lang="fr-FR" dirty="0"/>
              <a:t>, Quarto, </a:t>
            </a:r>
            <a:r>
              <a:rPr lang="fr-FR" dirty="0" err="1"/>
              <a:t>RShiny</a:t>
            </a:r>
            <a:r>
              <a:rPr lang="fr-FR" dirty="0"/>
              <a:t> et GitHub ?</a:t>
            </a:r>
          </a:p>
          <a:p>
            <a:r>
              <a:rPr lang="fr-FR" dirty="0"/>
              <a:t>Si vous effectuez régulièrement la même action dans Excel ou R, il existe probablement une méthode plus rapide et plus efficace pour écrire votre code.</a:t>
            </a:r>
            <a:endParaRPr lang="en-GB" dirty="0"/>
          </a:p>
        </p:txBody>
      </p:sp>
    </p:spTree>
    <p:extLst>
      <p:ext uri="{BB962C8B-B14F-4D97-AF65-F5344CB8AC3E}">
        <p14:creationId xmlns:p14="http://schemas.microsoft.com/office/powerpoint/2010/main" val="593694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DA0E-E7E0-1632-9BB3-6246F33468AB}"/>
              </a:ext>
            </a:extLst>
          </p:cNvPr>
          <p:cNvSpPr>
            <a:spLocks noGrp="1"/>
          </p:cNvSpPr>
          <p:nvPr>
            <p:ph type="title"/>
          </p:nvPr>
        </p:nvSpPr>
        <p:spPr/>
        <p:txBody>
          <a:bodyPr/>
          <a:lstStyle/>
          <a:p>
            <a:r>
              <a:rPr lang="fr-FR" dirty="0"/>
              <a:t>Mais surtout, amusez-vous ! Et n'oubliez pas le but.</a:t>
            </a:r>
            <a:endParaRPr lang="en-GB" dirty="0"/>
          </a:p>
        </p:txBody>
      </p:sp>
      <p:sp>
        <p:nvSpPr>
          <p:cNvPr id="3" name="Text Placeholder 2">
            <a:extLst>
              <a:ext uri="{FF2B5EF4-FFF2-40B4-BE49-F238E27FC236}">
                <a16:creationId xmlns:a16="http://schemas.microsoft.com/office/drawing/2014/main" id="{F47DDD71-C113-5B8F-BA17-1F01B0E13A66}"/>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430140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 river flowing through a forest&#10;&#10;AI-generated content may be incorrect.">
            <a:extLst>
              <a:ext uri="{FF2B5EF4-FFF2-40B4-BE49-F238E27FC236}">
                <a16:creationId xmlns:a16="http://schemas.microsoft.com/office/drawing/2014/main" id="{4A2CDC7B-33BF-B217-8982-F98290D980D0}"/>
              </a:ext>
            </a:extLst>
          </p:cNvPr>
          <p:cNvPicPr>
            <a:picLocks noChangeAspect="1"/>
          </p:cNvPicPr>
          <p:nvPr/>
        </p:nvPicPr>
        <p:blipFill>
          <a:blip r:embed="rId2">
            <a:extLst>
              <a:ext uri="{28A0092B-C50C-407E-A947-70E740481C1C}">
                <a14:useLocalDpi xmlns:a14="http://schemas.microsoft.com/office/drawing/2010/main" val="0"/>
              </a:ext>
            </a:extLst>
          </a:blip>
          <a:srcRect t="13018" r="-2" b="40001"/>
          <a:stretch>
            <a:fillRect/>
          </a:stretch>
        </p:blipFill>
        <p:spPr>
          <a:xfrm>
            <a:off x="5162052" y="3272588"/>
            <a:ext cx="6105382" cy="3585411"/>
          </a:xfrm>
          <a:prstGeom prst="rect">
            <a:avLst/>
          </a:prstGeom>
        </p:spPr>
      </p:pic>
      <p:pic>
        <p:nvPicPr>
          <p:cNvPr id="1034" name="Picture 10" descr="An aerial view of a large green hill&#10;&#10;AI-generated content may be incorrect.">
            <a:extLst>
              <a:ext uri="{FF2B5EF4-FFF2-40B4-BE49-F238E27FC236}">
                <a16:creationId xmlns:a16="http://schemas.microsoft.com/office/drawing/2014/main" id="{A4CD3EAB-9C14-CED2-E069-3F7DCF954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9778" r="1" b="61"/>
          <a:stretch>
            <a:fillRect/>
          </a:stretch>
        </p:blipFill>
        <p:spPr bwMode="auto">
          <a:xfrm>
            <a:off x="20" y="9"/>
            <a:ext cx="7279893" cy="3895335"/>
          </a:xfrm>
          <a:custGeom>
            <a:avLst/>
            <a:gdLst/>
            <a:ahLst/>
            <a:cxnLst/>
            <a:rect l="l" t="t" r="r" b="b"/>
            <a:pathLst>
              <a:path w="7279913" h="3895335">
                <a:moveTo>
                  <a:pt x="0" y="0"/>
                </a:moveTo>
                <a:lnTo>
                  <a:pt x="7279913" y="0"/>
                </a:lnTo>
                <a:lnTo>
                  <a:pt x="7279913" y="3116976"/>
                </a:lnTo>
                <a:lnTo>
                  <a:pt x="5011287" y="3116976"/>
                </a:lnTo>
                <a:lnTo>
                  <a:pt x="5011287" y="3895335"/>
                </a:lnTo>
                <a:lnTo>
                  <a:pt x="0" y="3895335"/>
                </a:lnTo>
                <a:close/>
              </a:path>
            </a:pathLst>
          </a:custGeom>
          <a:noFill/>
          <a:extLst>
            <a:ext uri="{909E8E84-426E-40DD-AFC4-6F175D3DCCD1}">
              <a14:hiddenFill xmlns:a14="http://schemas.microsoft.com/office/drawing/2010/main">
                <a:solidFill>
                  <a:srgbClr val="FFFFFF"/>
                </a:solidFill>
              </a14:hiddenFill>
            </a:ext>
          </a:extLst>
        </p:spPr>
      </p:pic>
      <p:pic>
        <p:nvPicPr>
          <p:cNvPr id="1028" name="Picture 4" descr="Sangha River">
            <a:extLst>
              <a:ext uri="{FF2B5EF4-FFF2-40B4-BE49-F238E27FC236}">
                <a16:creationId xmlns:a16="http://schemas.microsoft.com/office/drawing/2014/main" id="{A1067792-4EA3-847F-8F9D-DB77C99DAA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338" r="665" b="-1"/>
          <a:stretch>
            <a:fillRect/>
          </a:stretch>
        </p:blipFill>
        <p:spPr bwMode="auto">
          <a:xfrm>
            <a:off x="7458302" y="-22547"/>
            <a:ext cx="3809132" cy="313953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 gorilla and baby gorilla walking in the grass&#10;&#10;AI-generated content may be incorrect.">
            <a:extLst>
              <a:ext uri="{FF2B5EF4-FFF2-40B4-BE49-F238E27FC236}">
                <a16:creationId xmlns:a16="http://schemas.microsoft.com/office/drawing/2014/main" id="{2C9C9682-754D-CCE8-FAED-D0BCC9EFB5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3931" b="11155"/>
          <a:stretch>
            <a:fillRect/>
          </a:stretch>
        </p:blipFill>
        <p:spPr bwMode="auto">
          <a:xfrm>
            <a:off x="1" y="4065775"/>
            <a:ext cx="5001186" cy="2792224"/>
          </a:xfrm>
          <a:prstGeom prst="rect">
            <a:avLst/>
          </a:prstGeom>
          <a:noFill/>
          <a:extLst>
            <a:ext uri="{909E8E84-426E-40DD-AFC4-6F175D3DCCD1}">
              <a14:hiddenFill xmlns:a14="http://schemas.microsoft.com/office/drawing/2010/main">
                <a:solidFill>
                  <a:srgbClr val="FFFFFF"/>
                </a:solidFill>
              </a14:hiddenFill>
            </a:ext>
          </a:extLst>
        </p:spPr>
      </p:pic>
      <p:sp>
        <p:nvSpPr>
          <p:cNvPr id="1044" name="Rectangle 1043">
            <a:extLst>
              <a:ext uri="{FF2B5EF4-FFF2-40B4-BE49-F238E27FC236}">
                <a16:creationId xmlns:a16="http://schemas.microsoft.com/office/drawing/2014/main" id="{25414FA1-2D4C-41DB-83DE-4F3E38C10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23904" y="0"/>
            <a:ext cx="768096"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descr="Congo Basin Science Initiative">
            <a:extLst>
              <a:ext uri="{FF2B5EF4-FFF2-40B4-BE49-F238E27FC236}">
                <a16:creationId xmlns:a16="http://schemas.microsoft.com/office/drawing/2014/main" id="{18CBFBE6-0D2C-5875-CF2F-177451C39D32}"/>
              </a:ext>
            </a:extLst>
          </p:cNvPr>
          <p:cNvSpPr>
            <a:spLocks noChangeAspect="1" noChangeArrowheads="1"/>
          </p:cNvSpPr>
          <p:nvPr/>
        </p:nvSpPr>
        <p:spPr bwMode="auto">
          <a:xfrm>
            <a:off x="3984171" y="3276599"/>
            <a:ext cx="2264229" cy="22642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12">
            <a:extLst>
              <a:ext uri="{FF2B5EF4-FFF2-40B4-BE49-F238E27FC236}">
                <a16:creationId xmlns:a16="http://schemas.microsoft.com/office/drawing/2014/main" id="{75ED1061-62AF-A854-D021-727DB64FCE98}"/>
              </a:ext>
            </a:extLst>
          </p:cNvPr>
          <p:cNvSpPr>
            <a:spLocks noChangeAspect="1" noChangeArrowheads="1"/>
          </p:cNvSpPr>
          <p:nvPr/>
        </p:nvSpPr>
        <p:spPr bwMode="auto">
          <a:xfrm>
            <a:off x="5943599" y="3276599"/>
            <a:ext cx="1730829" cy="17308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159214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51FF7-F07B-6460-A4AE-6E5A9FDC0C66}"/>
              </a:ext>
            </a:extLst>
          </p:cNvPr>
          <p:cNvSpPr>
            <a:spLocks noGrp="1"/>
          </p:cNvSpPr>
          <p:nvPr>
            <p:ph type="ctrTitle"/>
          </p:nvPr>
        </p:nvSpPr>
        <p:spPr>
          <a:xfrm>
            <a:off x="1524000" y="2235200"/>
            <a:ext cx="9144000" cy="2387600"/>
          </a:xfrm>
        </p:spPr>
        <p:txBody>
          <a:bodyPr>
            <a:normAutofit fontScale="90000"/>
          </a:bodyPr>
          <a:lstStyle/>
          <a:p>
            <a:r>
              <a:rPr lang="fr-FR" dirty="0"/>
              <a:t>Des informations utiles pour vous accompagner dans votre apprentissage de R.</a:t>
            </a:r>
            <a:endParaRPr lang="en-GB" dirty="0"/>
          </a:p>
        </p:txBody>
      </p:sp>
    </p:spTree>
    <p:extLst>
      <p:ext uri="{BB962C8B-B14F-4D97-AF65-F5344CB8AC3E}">
        <p14:creationId xmlns:p14="http://schemas.microsoft.com/office/powerpoint/2010/main" val="966736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67745-E2CE-1A68-2E50-24F5CC7657DA}"/>
              </a:ext>
            </a:extLst>
          </p:cNvPr>
          <p:cNvSpPr>
            <a:spLocks noGrp="1"/>
          </p:cNvSpPr>
          <p:nvPr>
            <p:ph type="ctrTitle"/>
          </p:nvPr>
        </p:nvSpPr>
        <p:spPr/>
        <p:txBody>
          <a:bodyPr/>
          <a:lstStyle/>
          <a:p>
            <a:r>
              <a:rPr lang="en-GB" dirty="0"/>
              <a:t>https://rstudio-education.github.io/hopr/</a:t>
            </a:r>
          </a:p>
        </p:txBody>
      </p:sp>
      <p:sp>
        <p:nvSpPr>
          <p:cNvPr id="3" name="Subtitle 2">
            <a:extLst>
              <a:ext uri="{FF2B5EF4-FFF2-40B4-BE49-F238E27FC236}">
                <a16:creationId xmlns:a16="http://schemas.microsoft.com/office/drawing/2014/main" id="{772F3487-F091-3F5C-A3B2-B2509156EEC9}"/>
              </a:ext>
            </a:extLst>
          </p:cNvPr>
          <p:cNvSpPr>
            <a:spLocks noGrp="1"/>
          </p:cNvSpPr>
          <p:nvPr>
            <p:ph type="subTitle" idx="1"/>
          </p:nvPr>
        </p:nvSpPr>
        <p:spPr/>
        <p:txBody>
          <a:bodyPr>
            <a:normAutofit lnSpcReduction="10000"/>
          </a:bodyPr>
          <a:lstStyle/>
          <a:p>
            <a:r>
              <a:rPr lang="fr-FR" sz="3200" dirty="0"/>
              <a:t>pour les débutants</a:t>
            </a:r>
          </a:p>
          <a:p>
            <a:endParaRPr lang="fr-FR" sz="3200" dirty="0"/>
          </a:p>
          <a:p>
            <a:r>
              <a:rPr lang="fr-FR" sz="3200" dirty="0"/>
              <a:t>livre en ligne: Hands on </a:t>
            </a:r>
            <a:r>
              <a:rPr lang="fr-FR" sz="3200" dirty="0" err="1"/>
              <a:t>Programming</a:t>
            </a:r>
            <a:r>
              <a:rPr lang="fr-FR" sz="3200" dirty="0"/>
              <a:t> </a:t>
            </a:r>
            <a:r>
              <a:rPr lang="fr-FR" sz="3200" dirty="0" err="1"/>
              <a:t>with</a:t>
            </a:r>
            <a:r>
              <a:rPr lang="fr-FR" sz="3200" dirty="0"/>
              <a:t> R</a:t>
            </a:r>
            <a:endParaRPr lang="en-GB" sz="3200" dirty="0"/>
          </a:p>
        </p:txBody>
      </p:sp>
    </p:spTree>
    <p:extLst>
      <p:ext uri="{BB962C8B-B14F-4D97-AF65-F5344CB8AC3E}">
        <p14:creationId xmlns:p14="http://schemas.microsoft.com/office/powerpoint/2010/main" val="298737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51DC2-B315-5791-F1BB-5BEF55679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1E5EF-DB7E-806F-3D0B-B6CFA27FB5B7}"/>
              </a:ext>
            </a:extLst>
          </p:cNvPr>
          <p:cNvSpPr>
            <a:spLocks noGrp="1"/>
          </p:cNvSpPr>
          <p:nvPr>
            <p:ph type="ctrTitle"/>
          </p:nvPr>
        </p:nvSpPr>
        <p:spPr/>
        <p:txBody>
          <a:bodyPr/>
          <a:lstStyle/>
          <a:p>
            <a:r>
              <a:rPr lang="en-GB" dirty="0"/>
              <a:t>https://r4ds.hadley.nz/</a:t>
            </a:r>
          </a:p>
        </p:txBody>
      </p:sp>
      <p:sp>
        <p:nvSpPr>
          <p:cNvPr id="3" name="Subtitle 2">
            <a:extLst>
              <a:ext uri="{FF2B5EF4-FFF2-40B4-BE49-F238E27FC236}">
                <a16:creationId xmlns:a16="http://schemas.microsoft.com/office/drawing/2014/main" id="{60224CBD-6C47-5C34-7574-D80FAF4EDC6E}"/>
              </a:ext>
            </a:extLst>
          </p:cNvPr>
          <p:cNvSpPr>
            <a:spLocks noGrp="1"/>
          </p:cNvSpPr>
          <p:nvPr>
            <p:ph type="subTitle" idx="1"/>
          </p:nvPr>
        </p:nvSpPr>
        <p:spPr/>
        <p:txBody>
          <a:bodyPr>
            <a:normAutofit lnSpcReduction="10000"/>
          </a:bodyPr>
          <a:lstStyle/>
          <a:p>
            <a:r>
              <a:rPr lang="fr-FR" sz="3200" dirty="0"/>
              <a:t>pour les niveaux intermédiaire et avancé</a:t>
            </a:r>
          </a:p>
          <a:p>
            <a:endParaRPr lang="fr-FR" sz="3200" dirty="0"/>
          </a:p>
          <a:p>
            <a:r>
              <a:rPr lang="fr-FR" sz="3200" dirty="0"/>
              <a:t>livre en ligne: R for Data Science</a:t>
            </a:r>
            <a:endParaRPr lang="en-GB" sz="3200" dirty="0"/>
          </a:p>
        </p:txBody>
      </p:sp>
    </p:spTree>
    <p:extLst>
      <p:ext uri="{BB962C8B-B14F-4D97-AF65-F5344CB8AC3E}">
        <p14:creationId xmlns:p14="http://schemas.microsoft.com/office/powerpoint/2010/main" val="1829837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722F4-6D37-B2F1-D5D4-D6CADBA4D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DED28-AAF9-B01F-6B0F-29E9CF49A440}"/>
              </a:ext>
            </a:extLst>
          </p:cNvPr>
          <p:cNvSpPr>
            <a:spLocks noGrp="1"/>
          </p:cNvSpPr>
          <p:nvPr>
            <p:ph type="ctrTitle"/>
          </p:nvPr>
        </p:nvSpPr>
        <p:spPr>
          <a:xfrm>
            <a:off x="1524000" y="1590448"/>
            <a:ext cx="9144000" cy="2387600"/>
          </a:xfrm>
        </p:spPr>
        <p:txBody>
          <a:bodyPr>
            <a:normAutofit fontScale="90000"/>
          </a:bodyPr>
          <a:lstStyle/>
          <a:p>
            <a:r>
              <a:rPr lang="en-GB" dirty="0"/>
              <a:t>https://gorsknm0.github.io/cbsi_r_training/</a:t>
            </a:r>
            <a:br>
              <a:rPr lang="en-GB" dirty="0"/>
            </a:br>
            <a:br>
              <a:rPr lang="en-GB" dirty="0"/>
            </a:br>
            <a:r>
              <a:rPr lang="en-GB" dirty="0" err="1"/>
              <a:t>datascience.pizza</a:t>
            </a:r>
            <a:endParaRPr lang="en-GB" dirty="0"/>
          </a:p>
        </p:txBody>
      </p:sp>
      <p:sp>
        <p:nvSpPr>
          <p:cNvPr id="3" name="Subtitle 2">
            <a:extLst>
              <a:ext uri="{FF2B5EF4-FFF2-40B4-BE49-F238E27FC236}">
                <a16:creationId xmlns:a16="http://schemas.microsoft.com/office/drawing/2014/main" id="{4A34908E-5020-F186-8250-8635C8C96BD8}"/>
              </a:ext>
            </a:extLst>
          </p:cNvPr>
          <p:cNvSpPr>
            <a:spLocks noGrp="1"/>
          </p:cNvSpPr>
          <p:nvPr>
            <p:ph type="subTitle" idx="1"/>
          </p:nvPr>
        </p:nvSpPr>
        <p:spPr>
          <a:xfrm>
            <a:off x="1524000" y="4451123"/>
            <a:ext cx="9144000" cy="1655762"/>
          </a:xfrm>
        </p:spPr>
        <p:txBody>
          <a:bodyPr>
            <a:normAutofit/>
          </a:bodyPr>
          <a:lstStyle/>
          <a:p>
            <a:r>
              <a:rPr lang="fr-FR" sz="3200" dirty="0"/>
              <a:t>s'entraîner</a:t>
            </a:r>
            <a:endParaRPr lang="en-GB" sz="3200" dirty="0"/>
          </a:p>
        </p:txBody>
      </p:sp>
    </p:spTree>
    <p:extLst>
      <p:ext uri="{BB962C8B-B14F-4D97-AF65-F5344CB8AC3E}">
        <p14:creationId xmlns:p14="http://schemas.microsoft.com/office/powerpoint/2010/main" val="238353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349</TotalTime>
  <Words>889</Words>
  <Application>Microsoft Office PowerPoint</Application>
  <PresentationFormat>Widescreen</PresentationFormat>
  <Paragraphs>54</Paragraphs>
  <Slides>14</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Quelques conseils et informations utiles</vt:lpstr>
      <vt:lpstr>Tu as appris plein de choses différentes cette semaine. Comme quoi ?</vt:lpstr>
      <vt:lpstr>Mais le fait d'avoir beaucoup appris n'a aucune importance, à moins que vous ne continuiez à utiliser ces compétences.</vt:lpstr>
      <vt:lpstr>Une simple boîte à outils suffit pour construire une maison.</vt:lpstr>
      <vt:lpstr>Votre apprentissage est votre responsabilité.</vt:lpstr>
      <vt:lpstr>Soyez patient. Cela ne se fera pas du jour au lendemain.</vt:lpstr>
      <vt:lpstr>Vos recherches pourraient être exceptionnelles, mais cela n'a aucune importance si elles ne sont pas reproductibles, efficaces et faciles à comprendre.</vt:lpstr>
      <vt:lpstr>Voici donc mes derniers conseils spécifiques concernant R.</vt:lpstr>
      <vt:lpstr>Mais surtout, amusez-vous ! Et n'oubliez pas le but.</vt:lpstr>
      <vt:lpstr>PowerPoint Presentation</vt:lpstr>
      <vt:lpstr>Des informations utiles pour vous accompagner dans votre apprentissage de R.</vt:lpstr>
      <vt:lpstr>https://rstudio-education.github.io/hopr/</vt:lpstr>
      <vt:lpstr>https://r4ds.hadley.nz/</vt:lpstr>
      <vt:lpstr>https://gorsknm0.github.io/cbsi_r_training/  datascience.pizza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Nika Gorski</dc:creator>
  <cp:lastModifiedBy>Nika Gorski</cp:lastModifiedBy>
  <cp:revision>5</cp:revision>
  <dcterms:created xsi:type="dcterms:W3CDTF">2026-01-15T20:55:22Z</dcterms:created>
  <dcterms:modified xsi:type="dcterms:W3CDTF">2026-01-20T09:01:51Z</dcterms:modified>
</cp:coreProperties>
</file>